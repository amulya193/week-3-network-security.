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sldSz cx="18288000" cy="10287000"/>
  <p:notesSz cx="6858000" cy="9144000"/>
  <p:embeddedFontLst>
    <p:embeddedFont>
      <p:font typeface="Canva Sans" panose="020B0604020202020204" charset="0"/>
      <p:regular r:id="rId25"/>
    </p:embeddedFont>
    <p:embeddedFont>
      <p:font typeface="Canva Sans Bold" panose="020B0604020202020204" charset="0"/>
      <p:regular r:id="rId26"/>
    </p:embeddedFont>
    <p:embeddedFont>
      <p:font typeface="Mokoto" panose="020B0604020202020204" charset="0"/>
      <p:regular r:id="rId27"/>
    </p:embeddedFont>
    <p:embeddedFont>
      <p:font typeface="Montserrat" panose="00000500000000000000" pitchFamily="2" charset="0"/>
      <p:regular r:id="rId28"/>
    </p:embeddedFont>
    <p:embeddedFont>
      <p:font typeface="Montserrat Bold" panose="020B0604020202020204" charset="0"/>
      <p:regular r:id="rId29"/>
    </p:embeddedFont>
    <p:embeddedFont>
      <p:font typeface="Poppins" panose="00000500000000000000" pitchFamily="2" charset="0"/>
      <p:regular r:id="rId30"/>
    </p:embeddedFont>
    <p:embeddedFont>
      <p:font typeface="Poppins Bold" panose="020B0604020202020204" charset="0"/>
      <p:regular r:id="rId31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52" d="100"/>
          <a:sy n="52" d="100"/>
        </p:scale>
        <p:origin x="850" y="62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font" Target="fonts/font2.fntdata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1.fntdata"/><Relationship Id="rId33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font" Target="fonts/font5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font" Target="fonts/font4.fntdata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font" Target="fonts/font7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font" Target="fonts/font3.fntdata"/><Relationship Id="rId30" Type="http://schemas.openxmlformats.org/officeDocument/2006/relationships/font" Target="fonts/font6.fntdata"/><Relationship Id="rId35" Type="http://schemas.openxmlformats.org/officeDocument/2006/relationships/tableStyles" Target="tableStyles.xml"/><Relationship Id="rId8" Type="http://schemas.openxmlformats.org/officeDocument/2006/relationships/slide" Target="slides/slide7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9/21/2026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9/21/2026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9/21/2026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9/21/2026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.svg"/><Relationship Id="rId4" Type="http://schemas.openxmlformats.org/officeDocument/2006/relationships/image" Target="../media/image3.sv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1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3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8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9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1.png"/><Relationship Id="rId4" Type="http://schemas.openxmlformats.org/officeDocument/2006/relationships/image" Target="../media/image20.sv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4.png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5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8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5400000">
            <a:off x="4000500" y="-4000500"/>
            <a:ext cx="10287000" cy="18288000"/>
          </a:xfrm>
          <a:custGeom>
            <a:avLst/>
            <a:gdLst/>
            <a:ahLst/>
            <a:cxnLst/>
            <a:rect l="l" t="t" r="r" b="b"/>
            <a:pathLst>
              <a:path w="10287000" h="18288000">
                <a:moveTo>
                  <a:pt x="0" y="18288000"/>
                </a:moveTo>
                <a:lnTo>
                  <a:pt x="0" y="0"/>
                </a:lnTo>
                <a:lnTo>
                  <a:pt x="10287000" y="0"/>
                </a:lnTo>
                <a:lnTo>
                  <a:pt x="10287000" y="18288000"/>
                </a:lnTo>
                <a:lnTo>
                  <a:pt x="0" y="18288000"/>
                </a:lnTo>
                <a:close/>
              </a:path>
            </a:pathLst>
          </a:custGeom>
          <a:blipFill>
            <a:blip r:embed="rId2"/>
            <a:stretch>
              <a:fillRect l="-12666" r="-12666"/>
            </a:stretch>
          </a:blipFill>
        </p:spPr>
      </p:sp>
      <p:sp>
        <p:nvSpPr>
          <p:cNvPr id="3" name="Freeform 3"/>
          <p:cNvSpPr/>
          <p:nvPr/>
        </p:nvSpPr>
        <p:spPr>
          <a:xfrm>
            <a:off x="9144000" y="1922424"/>
            <a:ext cx="10158693" cy="6704738"/>
          </a:xfrm>
          <a:custGeom>
            <a:avLst/>
            <a:gdLst/>
            <a:ahLst/>
            <a:cxnLst/>
            <a:rect l="l" t="t" r="r" b="b"/>
            <a:pathLst>
              <a:path w="10158693" h="6704738">
                <a:moveTo>
                  <a:pt x="0" y="0"/>
                </a:moveTo>
                <a:lnTo>
                  <a:pt x="10158693" y="0"/>
                </a:lnTo>
                <a:lnTo>
                  <a:pt x="10158693" y="6704737"/>
                </a:lnTo>
                <a:lnTo>
                  <a:pt x="0" y="6704737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4" name="Freeform 4"/>
          <p:cNvSpPr/>
          <p:nvPr/>
        </p:nvSpPr>
        <p:spPr>
          <a:xfrm>
            <a:off x="11963559" y="873267"/>
            <a:ext cx="8259257" cy="8385033"/>
          </a:xfrm>
          <a:custGeom>
            <a:avLst/>
            <a:gdLst/>
            <a:ahLst/>
            <a:cxnLst/>
            <a:rect l="l" t="t" r="r" b="b"/>
            <a:pathLst>
              <a:path w="8259257" h="8385033">
                <a:moveTo>
                  <a:pt x="0" y="0"/>
                </a:moveTo>
                <a:lnTo>
                  <a:pt x="8259257" y="0"/>
                </a:lnTo>
                <a:lnTo>
                  <a:pt x="8259257" y="8385033"/>
                </a:lnTo>
                <a:lnTo>
                  <a:pt x="0" y="8385033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</p:sp>
      <p:sp>
        <p:nvSpPr>
          <p:cNvPr id="5" name="Freeform 5"/>
          <p:cNvSpPr/>
          <p:nvPr/>
        </p:nvSpPr>
        <p:spPr>
          <a:xfrm>
            <a:off x="2490579" y="3121656"/>
            <a:ext cx="8180698" cy="3190472"/>
          </a:xfrm>
          <a:custGeom>
            <a:avLst/>
            <a:gdLst/>
            <a:ahLst/>
            <a:cxnLst/>
            <a:rect l="l" t="t" r="r" b="b"/>
            <a:pathLst>
              <a:path w="8180698" h="3190472">
                <a:moveTo>
                  <a:pt x="0" y="0"/>
                </a:moveTo>
                <a:lnTo>
                  <a:pt x="8180698" y="0"/>
                </a:lnTo>
                <a:lnTo>
                  <a:pt x="8180698" y="3190473"/>
                </a:lnTo>
                <a:lnTo>
                  <a:pt x="0" y="3190473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6" name="TextBox 6"/>
          <p:cNvSpPr txBox="1"/>
          <p:nvPr/>
        </p:nvSpPr>
        <p:spPr>
          <a:xfrm>
            <a:off x="510582" y="590550"/>
            <a:ext cx="11452977" cy="22383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8843"/>
              </a:lnSpc>
            </a:pPr>
            <a:r>
              <a:rPr lang="en-US" sz="7369">
                <a:solidFill>
                  <a:srgbClr val="B6FBFF"/>
                </a:solidFill>
                <a:latin typeface="Mokoto"/>
                <a:ea typeface="Mokoto"/>
                <a:cs typeface="Mokoto"/>
                <a:sym typeface="Mokoto"/>
              </a:rPr>
              <a:t>WEEK - 3 ASSIGNMENT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660805" y="3312728"/>
            <a:ext cx="9668458" cy="9906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7870"/>
              </a:lnSpc>
              <a:spcBef>
                <a:spcPct val="0"/>
              </a:spcBef>
            </a:pPr>
            <a:r>
              <a:rPr lang="en-US" sz="6558" b="1">
                <a:solidFill>
                  <a:srgbClr val="B6FBFF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NETWORK SECURITY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193544" y="6635979"/>
            <a:ext cx="7194947" cy="11804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759"/>
              </a:lnSpc>
            </a:pPr>
            <a:r>
              <a:rPr lang="en-US" sz="3399">
                <a:solidFill>
                  <a:srgbClr val="B6FBFF"/>
                </a:solidFill>
                <a:latin typeface="Montserrat"/>
                <a:ea typeface="Montserrat"/>
                <a:cs typeface="Montserrat"/>
                <a:sym typeface="Montserrat"/>
              </a:rPr>
              <a:t>Name : B SAI AMULYA GOUD</a:t>
            </a:r>
          </a:p>
          <a:p>
            <a:pPr algn="ctr">
              <a:lnSpc>
                <a:spcPts val="4759"/>
              </a:lnSpc>
            </a:pPr>
            <a:r>
              <a:rPr lang="en-US" sz="3399">
                <a:solidFill>
                  <a:srgbClr val="B6FBFF"/>
                </a:solidFill>
                <a:latin typeface="Montserrat"/>
                <a:ea typeface="Montserrat"/>
                <a:cs typeface="Montserrat"/>
                <a:sym typeface="Montserrat"/>
              </a:rPr>
              <a:t>SIN :  DG/SEPTEMBER/CYBER/179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5400000">
            <a:off x="4000500" y="-4000500"/>
            <a:ext cx="10287000" cy="18288000"/>
          </a:xfrm>
          <a:custGeom>
            <a:avLst/>
            <a:gdLst/>
            <a:ahLst/>
            <a:cxnLst/>
            <a:rect l="l" t="t" r="r" b="b"/>
            <a:pathLst>
              <a:path w="10287000" h="18288000">
                <a:moveTo>
                  <a:pt x="0" y="18288000"/>
                </a:moveTo>
                <a:lnTo>
                  <a:pt x="0" y="0"/>
                </a:lnTo>
                <a:lnTo>
                  <a:pt x="10287000" y="0"/>
                </a:lnTo>
                <a:lnTo>
                  <a:pt x="10287000" y="18288000"/>
                </a:lnTo>
                <a:lnTo>
                  <a:pt x="0" y="18288000"/>
                </a:lnTo>
                <a:close/>
              </a:path>
            </a:pathLst>
          </a:custGeom>
          <a:blipFill>
            <a:blip r:embed="rId2"/>
            <a:stretch>
              <a:fillRect l="-12666" r="-12666"/>
            </a:stretch>
          </a:blipFill>
        </p:spPr>
      </p:sp>
      <p:sp>
        <p:nvSpPr>
          <p:cNvPr id="3" name="Freeform 3"/>
          <p:cNvSpPr/>
          <p:nvPr/>
        </p:nvSpPr>
        <p:spPr>
          <a:xfrm flipH="1">
            <a:off x="3398770" y="3639307"/>
            <a:ext cx="15108394" cy="6647693"/>
          </a:xfrm>
          <a:custGeom>
            <a:avLst/>
            <a:gdLst/>
            <a:ahLst/>
            <a:cxnLst/>
            <a:rect l="l" t="t" r="r" b="b"/>
            <a:pathLst>
              <a:path w="15108394" h="6647693">
                <a:moveTo>
                  <a:pt x="15108393" y="0"/>
                </a:moveTo>
                <a:lnTo>
                  <a:pt x="0" y="0"/>
                </a:lnTo>
                <a:lnTo>
                  <a:pt x="0" y="6647693"/>
                </a:lnTo>
                <a:lnTo>
                  <a:pt x="15108393" y="6647693"/>
                </a:lnTo>
                <a:lnTo>
                  <a:pt x="15108393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4" name="TextBox 4"/>
          <p:cNvSpPr txBox="1"/>
          <p:nvPr/>
        </p:nvSpPr>
        <p:spPr>
          <a:xfrm>
            <a:off x="1464809" y="1407052"/>
            <a:ext cx="7495388" cy="10382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8183"/>
              </a:lnSpc>
            </a:pPr>
            <a:r>
              <a:rPr lang="en-US" sz="6819">
                <a:solidFill>
                  <a:srgbClr val="B6FBFF"/>
                </a:solidFill>
                <a:latin typeface="Mokoto"/>
                <a:ea typeface="Mokoto"/>
                <a:cs typeface="Mokoto"/>
                <a:sym typeface="Mokoto"/>
              </a:rPr>
              <a:t>OBJECTIVE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14165161" y="5514089"/>
            <a:ext cx="2523494" cy="6069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282"/>
              </a:lnSpc>
            </a:pPr>
            <a:r>
              <a:rPr lang="en-US" sz="2260" b="1">
                <a:solidFill>
                  <a:srgbClr val="0F034F"/>
                </a:solidFill>
                <a:latin typeface="Poppins Bold"/>
                <a:ea typeface="Poppins Bold"/>
                <a:cs typeface="Poppins Bold"/>
                <a:sym typeface="Poppins Bold"/>
              </a:rPr>
              <a:t>Vulnerability Assessment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0" y="2777796"/>
            <a:ext cx="18288000" cy="63817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647702" lvl="1" indent="-323851" algn="l">
              <a:lnSpc>
                <a:spcPts val="4200"/>
              </a:lnSpc>
              <a:buFont typeface="Arial"/>
              <a:buChar char="•"/>
            </a:pPr>
            <a:r>
              <a:rPr lang="en-US" sz="3000" b="1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To perform network discovery</a:t>
            </a:r>
            <a:r>
              <a:rPr lang="en-US" sz="300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 using Nmap and identify active hosts within the lab network.</a:t>
            </a:r>
          </a:p>
          <a:p>
            <a:pPr marL="647702" lvl="1" indent="-323851" algn="l">
              <a:lnSpc>
                <a:spcPts val="4200"/>
              </a:lnSpc>
              <a:buFont typeface="Arial"/>
              <a:buChar char="•"/>
            </a:pPr>
            <a:r>
              <a:rPr lang="en-US" sz="3000" b="1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To identify open ports and services</a:t>
            </a:r>
            <a:r>
              <a:rPr lang="en-US" sz="300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 running on the Windows 7 test VM using Nmap scanning techniques.</a:t>
            </a:r>
          </a:p>
          <a:p>
            <a:pPr marL="647702" lvl="1" indent="-323851" algn="l">
              <a:lnSpc>
                <a:spcPts val="4200"/>
              </a:lnSpc>
              <a:buFont typeface="Arial"/>
              <a:buChar char="•"/>
            </a:pPr>
            <a:r>
              <a:rPr lang="en-US" sz="3000" b="1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To capture and analyze network traffic</a:t>
            </a:r>
            <a:r>
              <a:rPr lang="en-US" sz="300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 using Wireshark and study protocols such as DNS, TCP, UDP, ARP, and ICMP.</a:t>
            </a:r>
          </a:p>
          <a:p>
            <a:pPr marL="647702" lvl="1" indent="-323851" algn="l">
              <a:lnSpc>
                <a:spcPts val="4200"/>
              </a:lnSpc>
              <a:buFont typeface="Arial"/>
              <a:buChar char="•"/>
            </a:pPr>
            <a:r>
              <a:rPr lang="en-US" sz="3000" b="1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To correlate Nmap results with Wireshark traffic</a:t>
            </a:r>
            <a:r>
              <a:rPr lang="en-US" sz="300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 and understand how network scanning generates TCP packets such as SYN, SYN/ACK, and RST.</a:t>
            </a:r>
          </a:p>
          <a:p>
            <a:pPr marL="647702" lvl="1" indent="-323851" algn="l">
              <a:lnSpc>
                <a:spcPts val="4200"/>
              </a:lnSpc>
              <a:buFont typeface="Arial"/>
              <a:buChar char="•"/>
            </a:pPr>
            <a:r>
              <a:rPr lang="en-US" sz="300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Apply at least three concrete hardening measures and verify the resulting reduction in attack surface. </a:t>
            </a:r>
          </a:p>
          <a:p>
            <a:pPr marL="647702" lvl="1" indent="-323851" algn="l">
              <a:lnSpc>
                <a:spcPts val="4200"/>
              </a:lnSpc>
              <a:buFont typeface="Arial"/>
              <a:buChar char="•"/>
            </a:pPr>
            <a:r>
              <a:rPr lang="en-US" sz="300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• Produce a professional, evidence-backed security assessment and a set of actionable recommendations.</a:t>
            </a:r>
          </a:p>
          <a:p>
            <a:pPr algn="l">
              <a:lnSpc>
                <a:spcPts val="4200"/>
              </a:lnSpc>
            </a:pPr>
            <a:endParaRPr lang="en-US" sz="3000">
              <a:solidFill>
                <a:srgbClr val="FFFFFF"/>
              </a:solidFill>
              <a:latin typeface="Canva Sans"/>
              <a:ea typeface="Canva Sans"/>
              <a:cs typeface="Canva Sans"/>
              <a:sym typeface="Canva Sans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000000">
                <a:alpha val="100000"/>
              </a:srgbClr>
            </a:gs>
            <a:gs pos="100000">
              <a:srgbClr val="3533CD">
                <a:alpha val="100000"/>
              </a:srgbClr>
            </a:gs>
          </a:gsLst>
          <a:lin ang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/>
          <p:cNvSpPr txBox="1"/>
          <p:nvPr/>
        </p:nvSpPr>
        <p:spPr>
          <a:xfrm>
            <a:off x="721489" y="895350"/>
            <a:ext cx="12562636" cy="116076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9520"/>
              </a:lnSpc>
            </a:pPr>
            <a:r>
              <a:rPr lang="en-US" sz="6800">
                <a:solidFill>
                  <a:srgbClr val="B6FBFF"/>
                </a:solidFill>
                <a:latin typeface="Mokoto"/>
                <a:ea typeface="Mokoto"/>
                <a:cs typeface="Mokoto"/>
                <a:sym typeface="Mokoto"/>
              </a:rPr>
              <a:t>Lab Architecture 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B779A729-5BFE-EF1C-6FE3-BB805D357E7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12651939"/>
              </p:ext>
            </p:extLst>
          </p:nvPr>
        </p:nvGraphicFramePr>
        <p:xfrm>
          <a:off x="838200" y="2705100"/>
          <a:ext cx="15621000" cy="668655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5207000">
                  <a:extLst>
                    <a:ext uri="{9D8B030D-6E8A-4147-A177-3AD203B41FA5}">
                      <a16:colId xmlns:a16="http://schemas.microsoft.com/office/drawing/2014/main" val="4287406703"/>
                    </a:ext>
                  </a:extLst>
                </a:gridCol>
                <a:gridCol w="5207000">
                  <a:extLst>
                    <a:ext uri="{9D8B030D-6E8A-4147-A177-3AD203B41FA5}">
                      <a16:colId xmlns:a16="http://schemas.microsoft.com/office/drawing/2014/main" val="2738397035"/>
                    </a:ext>
                  </a:extLst>
                </a:gridCol>
                <a:gridCol w="5207000">
                  <a:extLst>
                    <a:ext uri="{9D8B030D-6E8A-4147-A177-3AD203B41FA5}">
                      <a16:colId xmlns:a16="http://schemas.microsoft.com/office/drawing/2014/main" val="1517604768"/>
                    </a:ext>
                  </a:extLst>
                </a:gridCol>
              </a:tblGrid>
              <a:tr h="67821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300">
                          <a:effectLst/>
                        </a:rPr>
                        <a:t>Component</a:t>
                      </a:r>
                    </a:p>
                  </a:txBody>
                  <a:tcPr marL="78034" marR="78034" marT="39017" marB="39017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300">
                          <a:effectLst/>
                        </a:rPr>
                        <a:t>Configuration</a:t>
                      </a:r>
                    </a:p>
                  </a:txBody>
                  <a:tcPr marL="78034" marR="78034" marT="39017" marB="39017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300">
                          <a:effectLst/>
                        </a:rPr>
                        <a:t>Purpose</a:t>
                      </a:r>
                    </a:p>
                  </a:txBody>
                  <a:tcPr marL="78034" marR="78034" marT="39017" marB="39017" anchor="ctr"/>
                </a:tc>
                <a:extLst>
                  <a:ext uri="{0D108BD9-81ED-4DB2-BD59-A6C34878D82A}">
                    <a16:rowId xmlns:a16="http://schemas.microsoft.com/office/drawing/2014/main" val="3138684493"/>
                  </a:ext>
                </a:extLst>
              </a:tr>
              <a:tr h="67821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300" dirty="0">
                          <a:effectLst/>
                        </a:rPr>
                        <a:t>Kali Linux VM</a:t>
                      </a:r>
                    </a:p>
                  </a:txBody>
                  <a:tcPr marL="78034" marR="78034" marT="39017" marB="39017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300">
                          <a:effectLst/>
                        </a:rPr>
                        <a:t>10.0.2.4</a:t>
                      </a:r>
                    </a:p>
                  </a:txBody>
                  <a:tcPr marL="78034" marR="78034" marT="39017" marB="39017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300">
                          <a:effectLst/>
                        </a:rPr>
                        <a:t>Security testing and scanning</a:t>
                      </a:r>
                    </a:p>
                  </a:txBody>
                  <a:tcPr marL="78034" marR="78034" marT="39017" marB="39017" anchor="ctr"/>
                </a:tc>
                <a:extLst>
                  <a:ext uri="{0D108BD9-81ED-4DB2-BD59-A6C34878D82A}">
                    <a16:rowId xmlns:a16="http://schemas.microsoft.com/office/drawing/2014/main" val="1178177726"/>
                  </a:ext>
                </a:extLst>
              </a:tr>
              <a:tr h="67821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300">
                          <a:effectLst/>
                        </a:rPr>
                        <a:t>Windows 7 VM</a:t>
                      </a:r>
                    </a:p>
                  </a:txBody>
                  <a:tcPr marL="78034" marR="78034" marT="39017" marB="39017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300">
                          <a:effectLst/>
                        </a:rPr>
                        <a:t>10.0.2.3</a:t>
                      </a:r>
                    </a:p>
                  </a:txBody>
                  <a:tcPr marL="78034" marR="78034" marT="39017" marB="39017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300">
                          <a:effectLst/>
                        </a:rPr>
                        <a:t>Authorized target system</a:t>
                      </a:r>
                    </a:p>
                  </a:txBody>
                  <a:tcPr marL="78034" marR="78034" marT="39017" marB="39017" anchor="ctr"/>
                </a:tc>
                <a:extLst>
                  <a:ext uri="{0D108BD9-81ED-4DB2-BD59-A6C34878D82A}">
                    <a16:rowId xmlns:a16="http://schemas.microsoft.com/office/drawing/2014/main" val="2676050254"/>
                  </a:ext>
                </a:extLst>
              </a:tr>
              <a:tr h="193902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300">
                          <a:effectLst/>
                        </a:rPr>
                        <a:t>VirtualBox NAT Gateway</a:t>
                      </a:r>
                    </a:p>
                  </a:txBody>
                  <a:tcPr marL="78034" marR="78034" marT="39017" marB="39017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300">
                          <a:effectLst/>
                        </a:rPr>
                        <a:t>10.0.2.1</a:t>
                      </a:r>
                    </a:p>
                  </a:txBody>
                  <a:tcPr marL="78034" marR="78034" marT="39017" marB="39017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300" dirty="0">
                          <a:effectLst/>
                        </a:rPr>
                        <a:t>Network connectivity</a:t>
                      </a:r>
                    </a:p>
                  </a:txBody>
                  <a:tcPr marL="78034" marR="78034" marT="39017" marB="39017" anchor="ctr"/>
                </a:tc>
                <a:extLst>
                  <a:ext uri="{0D108BD9-81ED-4DB2-BD59-A6C34878D82A}">
                    <a16:rowId xmlns:a16="http://schemas.microsoft.com/office/drawing/2014/main" val="3366119365"/>
                  </a:ext>
                </a:extLst>
              </a:tr>
              <a:tr h="67821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300">
                          <a:effectLst/>
                        </a:rPr>
                        <a:t>Lab Network</a:t>
                      </a:r>
                    </a:p>
                  </a:txBody>
                  <a:tcPr marL="78034" marR="78034" marT="39017" marB="39017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300">
                          <a:effectLst/>
                        </a:rPr>
                        <a:t>10.0.2.0/24</a:t>
                      </a:r>
                    </a:p>
                  </a:txBody>
                  <a:tcPr marL="78034" marR="78034" marT="39017" marB="39017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300">
                          <a:effectLst/>
                        </a:rPr>
                        <a:t>Connects the virtual machines</a:t>
                      </a:r>
                    </a:p>
                  </a:txBody>
                  <a:tcPr marL="78034" marR="78034" marT="39017" marB="39017" anchor="ctr"/>
                </a:tc>
                <a:extLst>
                  <a:ext uri="{0D108BD9-81ED-4DB2-BD59-A6C34878D82A}">
                    <a16:rowId xmlns:a16="http://schemas.microsoft.com/office/drawing/2014/main" val="383635905"/>
                  </a:ext>
                </a:extLst>
              </a:tr>
              <a:tr h="67821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300">
                          <a:effectLst/>
                        </a:rPr>
                        <a:t>Wireshark</a:t>
                      </a:r>
                    </a:p>
                  </a:txBody>
                  <a:tcPr marL="78034" marR="78034" marT="39017" marB="39017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300">
                          <a:effectLst/>
                        </a:rPr>
                        <a:t>Kali Linux</a:t>
                      </a:r>
                    </a:p>
                  </a:txBody>
                  <a:tcPr marL="78034" marR="78034" marT="39017" marB="39017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300">
                          <a:effectLst/>
                        </a:rPr>
                        <a:t>Network traffic capture and analysis</a:t>
                      </a:r>
                    </a:p>
                  </a:txBody>
                  <a:tcPr marL="78034" marR="78034" marT="39017" marB="39017" anchor="ctr"/>
                </a:tc>
                <a:extLst>
                  <a:ext uri="{0D108BD9-81ED-4DB2-BD59-A6C34878D82A}">
                    <a16:rowId xmlns:a16="http://schemas.microsoft.com/office/drawing/2014/main" val="1960062956"/>
                  </a:ext>
                </a:extLst>
              </a:tr>
              <a:tr h="67821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300">
                          <a:effectLst/>
                        </a:rPr>
                        <a:t>Nmap</a:t>
                      </a:r>
                    </a:p>
                  </a:txBody>
                  <a:tcPr marL="78034" marR="78034" marT="39017" marB="39017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300">
                          <a:effectLst/>
                        </a:rPr>
                        <a:t>Kali Linux</a:t>
                      </a:r>
                    </a:p>
                  </a:txBody>
                  <a:tcPr marL="78034" marR="78034" marT="39017" marB="39017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300">
                          <a:effectLst/>
                        </a:rPr>
                        <a:t>Network and vulnerability assessment</a:t>
                      </a:r>
                    </a:p>
                  </a:txBody>
                  <a:tcPr marL="78034" marR="78034" marT="39017" marB="39017" anchor="ctr"/>
                </a:tc>
                <a:extLst>
                  <a:ext uri="{0D108BD9-81ED-4DB2-BD59-A6C34878D82A}">
                    <a16:rowId xmlns:a16="http://schemas.microsoft.com/office/drawing/2014/main" val="4066829092"/>
                  </a:ext>
                </a:extLst>
              </a:tr>
              <a:tr h="67821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300">
                          <a:effectLst/>
                        </a:rPr>
                        <a:t>Windows Firewall</a:t>
                      </a:r>
                    </a:p>
                  </a:txBody>
                  <a:tcPr marL="78034" marR="78034" marT="39017" marB="39017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300">
                          <a:effectLst/>
                        </a:rPr>
                        <a:t>Windows 7</a:t>
                      </a:r>
                    </a:p>
                  </a:txBody>
                  <a:tcPr marL="78034" marR="78034" marT="39017" marB="39017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300" dirty="0">
                          <a:effectLst/>
                        </a:rPr>
                        <a:t>Security hardening</a:t>
                      </a:r>
                    </a:p>
                  </a:txBody>
                  <a:tcPr marL="78034" marR="78034" marT="39017" marB="39017" anchor="ctr"/>
                </a:tc>
                <a:extLst>
                  <a:ext uri="{0D108BD9-81ED-4DB2-BD59-A6C34878D82A}">
                    <a16:rowId xmlns:a16="http://schemas.microsoft.com/office/drawing/2014/main" val="1670950411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000000">
                <a:alpha val="100000"/>
              </a:srgbClr>
            </a:gs>
            <a:gs pos="100000">
              <a:srgbClr val="3533CD">
                <a:alpha val="100000"/>
              </a:srgbClr>
            </a:gs>
          </a:gsLst>
          <a:lin ang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/>
          <p:cNvSpPr txBox="1"/>
          <p:nvPr/>
        </p:nvSpPr>
        <p:spPr>
          <a:xfrm>
            <a:off x="1028700" y="381635"/>
            <a:ext cx="7411284" cy="11607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9520"/>
              </a:lnSpc>
            </a:pPr>
            <a:r>
              <a:rPr lang="en-US" sz="6800">
                <a:solidFill>
                  <a:srgbClr val="B6FBFF"/>
                </a:solidFill>
                <a:latin typeface="Mokoto"/>
                <a:ea typeface="Mokoto"/>
                <a:cs typeface="Mokoto"/>
                <a:sym typeface="Mokoto"/>
              </a:rPr>
              <a:t>Tools used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E59890D6-8456-F5DB-93BF-43F666118D0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36376419"/>
              </p:ext>
            </p:extLst>
          </p:nvPr>
        </p:nvGraphicFramePr>
        <p:xfrm>
          <a:off x="1600200" y="2095500"/>
          <a:ext cx="14630400" cy="7239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7315200">
                  <a:extLst>
                    <a:ext uri="{9D8B030D-6E8A-4147-A177-3AD203B41FA5}">
                      <a16:colId xmlns:a16="http://schemas.microsoft.com/office/drawing/2014/main" val="327067326"/>
                    </a:ext>
                  </a:extLst>
                </a:gridCol>
                <a:gridCol w="7315200">
                  <a:extLst>
                    <a:ext uri="{9D8B030D-6E8A-4147-A177-3AD203B41FA5}">
                      <a16:colId xmlns:a16="http://schemas.microsoft.com/office/drawing/2014/main" val="858218192"/>
                    </a:ext>
                  </a:extLst>
                </a:gridCol>
              </a:tblGrid>
              <a:tr h="88578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300">
                          <a:effectLst/>
                        </a:rPr>
                        <a:t>Tool</a:t>
                      </a:r>
                    </a:p>
                  </a:txBody>
                  <a:tcPr marL="76388" marR="76388" marT="38194" marB="38194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300">
                          <a:effectLst/>
                        </a:rPr>
                        <a:t>Purpose</a:t>
                      </a:r>
                    </a:p>
                  </a:txBody>
                  <a:tcPr marL="76388" marR="76388" marT="38194" marB="38194" anchor="ctr"/>
                </a:tc>
                <a:extLst>
                  <a:ext uri="{0D108BD9-81ED-4DB2-BD59-A6C34878D82A}">
                    <a16:rowId xmlns:a16="http://schemas.microsoft.com/office/drawing/2014/main" val="2103865031"/>
                  </a:ext>
                </a:extLst>
              </a:tr>
              <a:tr h="88578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300">
                          <a:effectLst/>
                        </a:rPr>
                        <a:t>Kali Linux</a:t>
                      </a:r>
                      <a:endParaRPr lang="en-IN" sz="1300" b="1">
                        <a:effectLst/>
                      </a:endParaRPr>
                    </a:p>
                  </a:txBody>
                  <a:tcPr marL="76388" marR="76388" marT="38194" marB="38194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300">
                          <a:effectLst/>
                        </a:rPr>
                        <a:t>Security testing and assessment environment</a:t>
                      </a:r>
                    </a:p>
                  </a:txBody>
                  <a:tcPr marL="76388" marR="76388" marT="38194" marB="38194" anchor="ctr"/>
                </a:tc>
                <a:extLst>
                  <a:ext uri="{0D108BD9-81ED-4DB2-BD59-A6C34878D82A}">
                    <a16:rowId xmlns:a16="http://schemas.microsoft.com/office/drawing/2014/main" val="3963701304"/>
                  </a:ext>
                </a:extLst>
              </a:tr>
              <a:tr h="88578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300">
                          <a:effectLst/>
                        </a:rPr>
                        <a:t>Windows 7 VM</a:t>
                      </a:r>
                      <a:endParaRPr lang="en-IN" sz="1300" b="1">
                        <a:effectLst/>
                      </a:endParaRPr>
                    </a:p>
                  </a:txBody>
                  <a:tcPr marL="76388" marR="76388" marT="38194" marB="38194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300">
                          <a:effectLst/>
                        </a:rPr>
                        <a:t>Authorized target/test system</a:t>
                      </a:r>
                    </a:p>
                  </a:txBody>
                  <a:tcPr marL="76388" marR="76388" marT="38194" marB="38194" anchor="ctr"/>
                </a:tc>
                <a:extLst>
                  <a:ext uri="{0D108BD9-81ED-4DB2-BD59-A6C34878D82A}">
                    <a16:rowId xmlns:a16="http://schemas.microsoft.com/office/drawing/2014/main" val="17245533"/>
                  </a:ext>
                </a:extLst>
              </a:tr>
              <a:tr h="88578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300">
                          <a:effectLst/>
                        </a:rPr>
                        <a:t>VirtualBox</a:t>
                      </a:r>
                      <a:endParaRPr lang="en-IN" sz="1300" b="1">
                        <a:effectLst/>
                      </a:endParaRPr>
                    </a:p>
                  </a:txBody>
                  <a:tcPr marL="76388" marR="76388" marT="38194" marB="38194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300">
                          <a:effectLst/>
                        </a:rPr>
                        <a:t>Created and managed the virtual lab environment</a:t>
                      </a:r>
                    </a:p>
                  </a:txBody>
                  <a:tcPr marL="76388" marR="76388" marT="38194" marB="38194" anchor="ctr"/>
                </a:tc>
                <a:extLst>
                  <a:ext uri="{0D108BD9-81ED-4DB2-BD59-A6C34878D82A}">
                    <a16:rowId xmlns:a16="http://schemas.microsoft.com/office/drawing/2014/main" val="1214109499"/>
                  </a:ext>
                </a:extLst>
              </a:tr>
              <a:tr h="103850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300">
                          <a:effectLst/>
                        </a:rPr>
                        <a:t>Nmap</a:t>
                      </a:r>
                      <a:endParaRPr lang="en-IN" sz="1300" b="1">
                        <a:effectLst/>
                      </a:endParaRPr>
                    </a:p>
                  </a:txBody>
                  <a:tcPr marL="76388" marR="76388" marT="38194" marB="38194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300">
                          <a:effectLst/>
                        </a:rPr>
                        <a:t>Host discovery, port scanning, service/version detection, OS detection and vulnerability assessment</a:t>
                      </a:r>
                    </a:p>
                  </a:txBody>
                  <a:tcPr marL="76388" marR="76388" marT="38194" marB="38194" anchor="ctr"/>
                </a:tc>
                <a:extLst>
                  <a:ext uri="{0D108BD9-81ED-4DB2-BD59-A6C34878D82A}">
                    <a16:rowId xmlns:a16="http://schemas.microsoft.com/office/drawing/2014/main" val="2745723229"/>
                  </a:ext>
                </a:extLst>
              </a:tr>
              <a:tr h="88578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300">
                          <a:effectLst/>
                        </a:rPr>
                        <a:t>Wireshark</a:t>
                      </a:r>
                      <a:endParaRPr lang="en-IN" sz="1300" b="1">
                        <a:effectLst/>
                      </a:endParaRPr>
                    </a:p>
                  </a:txBody>
                  <a:tcPr marL="76388" marR="76388" marT="38194" marB="38194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300">
                          <a:effectLst/>
                        </a:rPr>
                        <a:t>Network traffic capture and packet analysis</a:t>
                      </a:r>
                    </a:p>
                  </a:txBody>
                  <a:tcPr marL="76388" marR="76388" marT="38194" marB="38194" anchor="ctr"/>
                </a:tc>
                <a:extLst>
                  <a:ext uri="{0D108BD9-81ED-4DB2-BD59-A6C34878D82A}">
                    <a16:rowId xmlns:a16="http://schemas.microsoft.com/office/drawing/2014/main" val="2375251330"/>
                  </a:ext>
                </a:extLst>
              </a:tr>
              <a:tr h="88578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300">
                          <a:effectLst/>
                        </a:rPr>
                        <a:t>Windows Firewall</a:t>
                      </a:r>
                      <a:endParaRPr lang="en-IN" sz="1300" b="1">
                        <a:effectLst/>
                      </a:endParaRPr>
                    </a:p>
                  </a:txBody>
                  <a:tcPr marL="76388" marR="76388" marT="38194" marB="38194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300">
                          <a:effectLst/>
                        </a:rPr>
                        <a:t>Applied security hardening and restricted inbound ports</a:t>
                      </a:r>
                    </a:p>
                  </a:txBody>
                  <a:tcPr marL="76388" marR="76388" marT="38194" marB="38194" anchor="ctr"/>
                </a:tc>
                <a:extLst>
                  <a:ext uri="{0D108BD9-81ED-4DB2-BD59-A6C34878D82A}">
                    <a16:rowId xmlns:a16="http://schemas.microsoft.com/office/drawing/2014/main" val="821867460"/>
                  </a:ext>
                </a:extLst>
              </a:tr>
              <a:tr h="88578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300">
                          <a:effectLst/>
                        </a:rPr>
                        <a:t>diagrams.net (draw.io)</a:t>
                      </a:r>
                      <a:endParaRPr lang="en-IN" sz="1300" b="1">
                        <a:effectLst/>
                      </a:endParaRPr>
                    </a:p>
                  </a:txBody>
                  <a:tcPr marL="76388" marR="76388" marT="38194" marB="38194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300" dirty="0">
                          <a:effectLst/>
                        </a:rPr>
                        <a:t>Created the network topology diagram</a:t>
                      </a:r>
                    </a:p>
                  </a:txBody>
                  <a:tcPr marL="76388" marR="76388" marT="38194" marB="38194" anchor="ctr"/>
                </a:tc>
                <a:extLst>
                  <a:ext uri="{0D108BD9-81ED-4DB2-BD59-A6C34878D82A}">
                    <a16:rowId xmlns:a16="http://schemas.microsoft.com/office/drawing/2014/main" val="6874945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5400000">
            <a:off x="4000500" y="-4000500"/>
            <a:ext cx="10287000" cy="18288000"/>
          </a:xfrm>
          <a:custGeom>
            <a:avLst/>
            <a:gdLst/>
            <a:ahLst/>
            <a:cxnLst/>
            <a:rect l="l" t="t" r="r" b="b"/>
            <a:pathLst>
              <a:path w="10287000" h="18288000">
                <a:moveTo>
                  <a:pt x="0" y="18288000"/>
                </a:moveTo>
                <a:lnTo>
                  <a:pt x="0" y="0"/>
                </a:lnTo>
                <a:lnTo>
                  <a:pt x="10287000" y="0"/>
                </a:lnTo>
                <a:lnTo>
                  <a:pt x="10287000" y="18288000"/>
                </a:lnTo>
                <a:lnTo>
                  <a:pt x="0" y="18288000"/>
                </a:lnTo>
                <a:close/>
              </a:path>
            </a:pathLst>
          </a:custGeom>
          <a:blipFill>
            <a:blip r:embed="rId2"/>
            <a:stretch>
              <a:fillRect l="-12666" r="-12666"/>
            </a:stretch>
          </a:blipFill>
        </p:spPr>
      </p:sp>
      <p:sp>
        <p:nvSpPr>
          <p:cNvPr id="3" name="Freeform 3"/>
          <p:cNvSpPr/>
          <p:nvPr/>
        </p:nvSpPr>
        <p:spPr>
          <a:xfrm flipV="1">
            <a:off x="-537979" y="15977"/>
            <a:ext cx="8516587" cy="3491801"/>
          </a:xfrm>
          <a:custGeom>
            <a:avLst/>
            <a:gdLst/>
            <a:ahLst/>
            <a:cxnLst/>
            <a:rect l="l" t="t" r="r" b="b"/>
            <a:pathLst>
              <a:path w="8516587" h="3491801">
                <a:moveTo>
                  <a:pt x="0" y="3491801"/>
                </a:moveTo>
                <a:lnTo>
                  <a:pt x="8516587" y="3491801"/>
                </a:lnTo>
                <a:lnTo>
                  <a:pt x="8516587" y="0"/>
                </a:lnTo>
                <a:lnTo>
                  <a:pt x="0" y="0"/>
                </a:lnTo>
                <a:lnTo>
                  <a:pt x="0" y="3491801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4" name="Freeform 4"/>
          <p:cNvSpPr/>
          <p:nvPr/>
        </p:nvSpPr>
        <p:spPr>
          <a:xfrm flipH="1">
            <a:off x="8845486" y="6607652"/>
            <a:ext cx="9715836" cy="3983493"/>
          </a:xfrm>
          <a:custGeom>
            <a:avLst/>
            <a:gdLst/>
            <a:ahLst/>
            <a:cxnLst/>
            <a:rect l="l" t="t" r="r" b="b"/>
            <a:pathLst>
              <a:path w="9715836" h="3983493">
                <a:moveTo>
                  <a:pt x="9715836" y="0"/>
                </a:moveTo>
                <a:lnTo>
                  <a:pt x="0" y="0"/>
                </a:lnTo>
                <a:lnTo>
                  <a:pt x="0" y="3983492"/>
                </a:lnTo>
                <a:lnTo>
                  <a:pt x="9715836" y="3983492"/>
                </a:lnTo>
                <a:lnTo>
                  <a:pt x="9715836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5" name="Freeform 5"/>
          <p:cNvSpPr/>
          <p:nvPr/>
        </p:nvSpPr>
        <p:spPr>
          <a:xfrm>
            <a:off x="242690" y="6019080"/>
            <a:ext cx="9871450" cy="3239220"/>
          </a:xfrm>
          <a:custGeom>
            <a:avLst/>
            <a:gdLst/>
            <a:ahLst/>
            <a:cxnLst/>
            <a:rect l="l" t="t" r="r" b="b"/>
            <a:pathLst>
              <a:path w="9871450" h="3239220">
                <a:moveTo>
                  <a:pt x="0" y="0"/>
                </a:moveTo>
                <a:lnTo>
                  <a:pt x="9871449" y="0"/>
                </a:lnTo>
                <a:lnTo>
                  <a:pt x="9871449" y="3239220"/>
                </a:lnTo>
                <a:lnTo>
                  <a:pt x="0" y="323922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</p:sp>
      <p:sp>
        <p:nvSpPr>
          <p:cNvPr id="6" name="Freeform 6"/>
          <p:cNvSpPr/>
          <p:nvPr/>
        </p:nvSpPr>
        <p:spPr>
          <a:xfrm>
            <a:off x="10304923" y="4568629"/>
            <a:ext cx="7520053" cy="4689671"/>
          </a:xfrm>
          <a:custGeom>
            <a:avLst/>
            <a:gdLst/>
            <a:ahLst/>
            <a:cxnLst/>
            <a:rect l="l" t="t" r="r" b="b"/>
            <a:pathLst>
              <a:path w="7520053" h="4689671">
                <a:moveTo>
                  <a:pt x="0" y="0"/>
                </a:moveTo>
                <a:lnTo>
                  <a:pt x="7520054" y="0"/>
                </a:lnTo>
                <a:lnTo>
                  <a:pt x="7520054" y="4689671"/>
                </a:lnTo>
                <a:lnTo>
                  <a:pt x="0" y="4689671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</p:sp>
      <p:sp>
        <p:nvSpPr>
          <p:cNvPr id="7" name="TextBox 7"/>
          <p:cNvSpPr txBox="1"/>
          <p:nvPr/>
        </p:nvSpPr>
        <p:spPr>
          <a:xfrm>
            <a:off x="495274" y="975974"/>
            <a:ext cx="16982559" cy="13525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5397"/>
              </a:lnSpc>
            </a:pPr>
            <a:r>
              <a:rPr lang="en-US" sz="4497">
                <a:solidFill>
                  <a:srgbClr val="B6FBFF"/>
                </a:solidFill>
                <a:latin typeface="Mokoto"/>
                <a:ea typeface="Mokoto"/>
                <a:cs typeface="Mokoto"/>
                <a:sym typeface="Mokoto"/>
              </a:rPr>
              <a:t>Network Discovery&amp;Basic</a:t>
            </a:r>
          </a:p>
          <a:p>
            <a:pPr algn="r">
              <a:lnSpc>
                <a:spcPts val="5397"/>
              </a:lnSpc>
            </a:pPr>
            <a:r>
              <a:rPr lang="en-US" sz="4497">
                <a:solidFill>
                  <a:srgbClr val="B6FBFF"/>
                </a:solidFill>
                <a:latin typeface="Mokoto"/>
                <a:ea typeface="Mokoto"/>
                <a:cs typeface="Mokoto"/>
                <a:sym typeface="Mokoto"/>
              </a:rPr>
              <a:t> Nmap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2071799" y="737949"/>
            <a:ext cx="4021628" cy="105219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8679"/>
              </a:lnSpc>
            </a:pPr>
            <a:r>
              <a:rPr lang="en-US" sz="6199" b="1" dirty="0">
                <a:solidFill>
                  <a:srgbClr val="B6FB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TASK - 7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242690" y="2261849"/>
            <a:ext cx="17235144" cy="17805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759"/>
              </a:lnSpc>
            </a:pPr>
            <a:r>
              <a:rPr lang="en-US" sz="3399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Network discovery is the process of identifying active devices within a network. It helps a security professional understand which hosts are reachable and which systems may need further security assessment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000000">
                <a:alpha val="100000"/>
              </a:srgbClr>
            </a:gs>
            <a:gs pos="100000">
              <a:srgbClr val="3533CD">
                <a:alpha val="100000"/>
              </a:srgbClr>
            </a:gs>
          </a:gsLst>
          <a:lin ang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3202806" y="585750"/>
            <a:ext cx="11394374" cy="4557750"/>
          </a:xfrm>
          <a:custGeom>
            <a:avLst/>
            <a:gdLst/>
            <a:ahLst/>
            <a:cxnLst/>
            <a:rect l="l" t="t" r="r" b="b"/>
            <a:pathLst>
              <a:path w="11394374" h="4557750">
                <a:moveTo>
                  <a:pt x="0" y="0"/>
                </a:moveTo>
                <a:lnTo>
                  <a:pt x="11394374" y="0"/>
                </a:lnTo>
                <a:lnTo>
                  <a:pt x="11394374" y="4557750"/>
                </a:lnTo>
                <a:lnTo>
                  <a:pt x="0" y="455775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Freeform 3"/>
          <p:cNvSpPr/>
          <p:nvPr/>
        </p:nvSpPr>
        <p:spPr>
          <a:xfrm>
            <a:off x="4312667" y="5384631"/>
            <a:ext cx="7299139" cy="4566641"/>
          </a:xfrm>
          <a:custGeom>
            <a:avLst/>
            <a:gdLst/>
            <a:ahLst/>
            <a:cxnLst/>
            <a:rect l="l" t="t" r="r" b="b"/>
            <a:pathLst>
              <a:path w="7299139" h="4566641">
                <a:moveTo>
                  <a:pt x="0" y="0"/>
                </a:moveTo>
                <a:lnTo>
                  <a:pt x="7299139" y="0"/>
                </a:lnTo>
                <a:lnTo>
                  <a:pt x="7299139" y="4566641"/>
                </a:lnTo>
                <a:lnTo>
                  <a:pt x="0" y="4566641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5400000">
            <a:off x="4000500" y="-4000500"/>
            <a:ext cx="10287000" cy="18288000"/>
          </a:xfrm>
          <a:custGeom>
            <a:avLst/>
            <a:gdLst/>
            <a:ahLst/>
            <a:cxnLst/>
            <a:rect l="l" t="t" r="r" b="b"/>
            <a:pathLst>
              <a:path w="10287000" h="18288000">
                <a:moveTo>
                  <a:pt x="0" y="18288000"/>
                </a:moveTo>
                <a:lnTo>
                  <a:pt x="0" y="0"/>
                </a:lnTo>
                <a:lnTo>
                  <a:pt x="10287000" y="0"/>
                </a:lnTo>
                <a:lnTo>
                  <a:pt x="10287000" y="18288000"/>
                </a:lnTo>
                <a:lnTo>
                  <a:pt x="0" y="18288000"/>
                </a:lnTo>
                <a:close/>
              </a:path>
            </a:pathLst>
          </a:custGeom>
          <a:blipFill>
            <a:blip r:embed="rId2"/>
            <a:stretch>
              <a:fillRect l="-12666" r="-12666"/>
            </a:stretch>
          </a:blipFill>
        </p:spPr>
      </p:sp>
      <p:sp>
        <p:nvSpPr>
          <p:cNvPr id="3" name="Freeform 3"/>
          <p:cNvSpPr/>
          <p:nvPr/>
        </p:nvSpPr>
        <p:spPr>
          <a:xfrm flipH="1" flipV="1">
            <a:off x="11565073" y="-177038"/>
            <a:ext cx="6926135" cy="3047499"/>
          </a:xfrm>
          <a:custGeom>
            <a:avLst/>
            <a:gdLst/>
            <a:ahLst/>
            <a:cxnLst/>
            <a:rect l="l" t="t" r="r" b="b"/>
            <a:pathLst>
              <a:path w="6926135" h="3047499">
                <a:moveTo>
                  <a:pt x="6926134" y="3047500"/>
                </a:moveTo>
                <a:lnTo>
                  <a:pt x="0" y="3047500"/>
                </a:lnTo>
                <a:lnTo>
                  <a:pt x="0" y="0"/>
                </a:lnTo>
                <a:lnTo>
                  <a:pt x="6926134" y="0"/>
                </a:lnTo>
                <a:lnTo>
                  <a:pt x="6926134" y="304750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4" name="Freeform 4"/>
          <p:cNvSpPr/>
          <p:nvPr/>
        </p:nvSpPr>
        <p:spPr>
          <a:xfrm>
            <a:off x="2913655" y="4305326"/>
            <a:ext cx="9882290" cy="5659299"/>
          </a:xfrm>
          <a:custGeom>
            <a:avLst/>
            <a:gdLst/>
            <a:ahLst/>
            <a:cxnLst/>
            <a:rect l="l" t="t" r="r" b="b"/>
            <a:pathLst>
              <a:path w="9882290" h="5659299">
                <a:moveTo>
                  <a:pt x="0" y="0"/>
                </a:moveTo>
                <a:lnTo>
                  <a:pt x="9882290" y="0"/>
                </a:lnTo>
                <a:lnTo>
                  <a:pt x="9882290" y="5659299"/>
                </a:lnTo>
                <a:lnTo>
                  <a:pt x="0" y="5659299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</p:sp>
      <p:sp>
        <p:nvSpPr>
          <p:cNvPr id="5" name="TextBox 5"/>
          <p:cNvSpPr txBox="1"/>
          <p:nvPr/>
        </p:nvSpPr>
        <p:spPr>
          <a:xfrm>
            <a:off x="526595" y="498987"/>
            <a:ext cx="16210960" cy="16859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624"/>
              </a:lnSpc>
            </a:pPr>
            <a:r>
              <a:rPr lang="en-US" sz="5520" spc="-55">
                <a:solidFill>
                  <a:srgbClr val="B6FBFF"/>
                </a:solidFill>
                <a:latin typeface="Mokoto"/>
                <a:ea typeface="Mokoto"/>
                <a:cs typeface="Mokoto"/>
                <a:sym typeface="Mokoto"/>
              </a:rPr>
              <a:t>task - 8 Advanced Nmap Security Assessment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825753" y="2592831"/>
            <a:ext cx="16228173" cy="11430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2953"/>
              </a:lnSpc>
            </a:pPr>
            <a:r>
              <a:rPr lang="en-US" sz="2461" b="1">
                <a:solidFill>
                  <a:srgbClr val="FFFFFF"/>
                </a:solidFill>
                <a:latin typeface="Poppins Bold"/>
                <a:ea typeface="Poppins Bold"/>
                <a:cs typeface="Poppins Bold"/>
                <a:sym typeface="Poppins Bold"/>
              </a:rPr>
              <a:t>Service and Version Detection : nmap -sV 10.0.2.3 </a:t>
            </a:r>
            <a:r>
              <a:rPr lang="en-US" sz="2461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The -sV option attempts to determine the service and version associated with open ports.</a:t>
            </a:r>
            <a:r>
              <a:rPr lang="en-US" sz="2461" b="1">
                <a:solidFill>
                  <a:srgbClr val="FFFFFF"/>
                </a:solidFill>
                <a:latin typeface="Poppins Bold"/>
                <a:ea typeface="Poppins Bold"/>
                <a:cs typeface="Poppins Bold"/>
                <a:sym typeface="Poppins Bold"/>
              </a:rPr>
              <a:t> </a:t>
            </a:r>
          </a:p>
          <a:p>
            <a:pPr algn="just">
              <a:lnSpc>
                <a:spcPts val="2953"/>
              </a:lnSpc>
              <a:spcBef>
                <a:spcPct val="0"/>
              </a:spcBef>
            </a:pPr>
            <a:endParaRPr lang="en-US" sz="2461" b="1">
              <a:solidFill>
                <a:srgbClr val="FFFFFF"/>
              </a:solidFill>
              <a:latin typeface="Poppins Bold"/>
              <a:ea typeface="Poppins Bold"/>
              <a:cs typeface="Poppins Bold"/>
              <a:sym typeface="Poppins Bold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5400000">
            <a:off x="4000500" y="-4000500"/>
            <a:ext cx="10287000" cy="18288000"/>
          </a:xfrm>
          <a:custGeom>
            <a:avLst/>
            <a:gdLst/>
            <a:ahLst/>
            <a:cxnLst/>
            <a:rect l="l" t="t" r="r" b="b"/>
            <a:pathLst>
              <a:path w="10287000" h="18288000">
                <a:moveTo>
                  <a:pt x="0" y="18288000"/>
                </a:moveTo>
                <a:lnTo>
                  <a:pt x="0" y="0"/>
                </a:lnTo>
                <a:lnTo>
                  <a:pt x="10287000" y="0"/>
                </a:lnTo>
                <a:lnTo>
                  <a:pt x="10287000" y="18288000"/>
                </a:lnTo>
                <a:lnTo>
                  <a:pt x="0" y="18288000"/>
                </a:lnTo>
                <a:close/>
              </a:path>
            </a:pathLst>
          </a:custGeom>
          <a:blipFill>
            <a:blip r:embed="rId2"/>
            <a:stretch>
              <a:fillRect l="-12666" r="-12666"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3953193" y="2963117"/>
            <a:ext cx="1050031" cy="36757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06"/>
              </a:lnSpc>
            </a:pPr>
            <a:r>
              <a:rPr lang="en-US" sz="2459" b="1">
                <a:solidFill>
                  <a:srgbClr val="0F034F"/>
                </a:solidFill>
                <a:latin typeface="Poppins Bold"/>
                <a:ea typeface="Poppins Bold"/>
                <a:cs typeface="Poppins Bold"/>
                <a:sym typeface="Poppins Bold"/>
              </a:rPr>
              <a:t>88%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13284777" y="4734909"/>
            <a:ext cx="1050031" cy="36757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06"/>
              </a:lnSpc>
            </a:pPr>
            <a:r>
              <a:rPr lang="en-US" sz="2459" b="1">
                <a:solidFill>
                  <a:srgbClr val="0F034F"/>
                </a:solidFill>
                <a:latin typeface="Poppins Bold"/>
                <a:ea typeface="Poppins Bold"/>
                <a:cs typeface="Poppins Bold"/>
                <a:sym typeface="Poppins Bold"/>
              </a:rPr>
              <a:t>52%</a:t>
            </a:r>
          </a:p>
        </p:txBody>
      </p:sp>
      <p:sp>
        <p:nvSpPr>
          <p:cNvPr id="5" name="Freeform 5"/>
          <p:cNvSpPr/>
          <p:nvPr/>
        </p:nvSpPr>
        <p:spPr>
          <a:xfrm>
            <a:off x="9020653" y="939035"/>
            <a:ext cx="8528247" cy="4048164"/>
          </a:xfrm>
          <a:custGeom>
            <a:avLst/>
            <a:gdLst/>
            <a:ahLst/>
            <a:cxnLst/>
            <a:rect l="l" t="t" r="r" b="b"/>
            <a:pathLst>
              <a:path w="8528247" h="4048164">
                <a:moveTo>
                  <a:pt x="0" y="0"/>
                </a:moveTo>
                <a:lnTo>
                  <a:pt x="8528247" y="0"/>
                </a:lnTo>
                <a:lnTo>
                  <a:pt x="8528247" y="4048164"/>
                </a:lnTo>
                <a:lnTo>
                  <a:pt x="0" y="404816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b="-897"/>
            </a:stretch>
          </a:blipFill>
        </p:spPr>
      </p:sp>
      <p:sp>
        <p:nvSpPr>
          <p:cNvPr id="6" name="TextBox 6"/>
          <p:cNvSpPr txBox="1"/>
          <p:nvPr/>
        </p:nvSpPr>
        <p:spPr>
          <a:xfrm>
            <a:off x="301948" y="2382727"/>
            <a:ext cx="7934408" cy="57419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4759"/>
              </a:lnSpc>
            </a:pPr>
            <a:r>
              <a:rPr lang="en-US" sz="3399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OPERATING SYSTEM DETECTION :-&gt;</a:t>
            </a:r>
          </a:p>
        </p:txBody>
      </p:sp>
      <p:sp>
        <p:nvSpPr>
          <p:cNvPr id="7" name="Freeform 7"/>
          <p:cNvSpPr/>
          <p:nvPr/>
        </p:nvSpPr>
        <p:spPr>
          <a:xfrm>
            <a:off x="731825" y="4205843"/>
            <a:ext cx="7934408" cy="5644578"/>
          </a:xfrm>
          <a:custGeom>
            <a:avLst/>
            <a:gdLst/>
            <a:ahLst/>
            <a:cxnLst/>
            <a:rect l="l" t="t" r="r" b="b"/>
            <a:pathLst>
              <a:path w="7934408" h="5644578">
                <a:moveTo>
                  <a:pt x="0" y="0"/>
                </a:moveTo>
                <a:lnTo>
                  <a:pt x="7934408" y="0"/>
                </a:lnTo>
                <a:lnTo>
                  <a:pt x="7934408" y="5644577"/>
                </a:lnTo>
                <a:lnTo>
                  <a:pt x="0" y="5644577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r="-26815"/>
            </a:stretch>
          </a:blipFill>
        </p:spPr>
      </p:sp>
      <p:sp>
        <p:nvSpPr>
          <p:cNvPr id="8" name="TextBox 8"/>
          <p:cNvSpPr txBox="1"/>
          <p:nvPr/>
        </p:nvSpPr>
        <p:spPr>
          <a:xfrm>
            <a:off x="11453761" y="6691783"/>
            <a:ext cx="5691239" cy="58039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4759"/>
              </a:lnSpc>
            </a:pPr>
            <a:r>
              <a:rPr lang="en-US" sz="3399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&lt;-: TCP SYN SCAN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000000">
                <a:alpha val="100000"/>
              </a:srgbClr>
            </a:gs>
            <a:gs pos="100000">
              <a:srgbClr val="3533CD">
                <a:alpha val="100000"/>
              </a:srgbClr>
            </a:gs>
          </a:gsLst>
          <a:lin ang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5254022" y="1593407"/>
            <a:ext cx="7765363" cy="6859172"/>
          </a:xfrm>
          <a:custGeom>
            <a:avLst/>
            <a:gdLst/>
            <a:ahLst/>
            <a:cxnLst/>
            <a:rect l="l" t="t" r="r" b="b"/>
            <a:pathLst>
              <a:path w="7765363" h="6859172">
                <a:moveTo>
                  <a:pt x="0" y="0"/>
                </a:moveTo>
                <a:lnTo>
                  <a:pt x="7765364" y="0"/>
                </a:lnTo>
                <a:lnTo>
                  <a:pt x="7765364" y="6859172"/>
                </a:lnTo>
                <a:lnTo>
                  <a:pt x="0" y="6859172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718840" y="1710869"/>
            <a:ext cx="2865001" cy="58039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759"/>
              </a:lnSpc>
            </a:pPr>
            <a:r>
              <a:rPr lang="en-US" sz="3399" b="1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UDP SCAN :-&gt;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5400000">
            <a:off x="4000500" y="-4000500"/>
            <a:ext cx="10287000" cy="18288000"/>
          </a:xfrm>
          <a:custGeom>
            <a:avLst/>
            <a:gdLst/>
            <a:ahLst/>
            <a:cxnLst/>
            <a:rect l="l" t="t" r="r" b="b"/>
            <a:pathLst>
              <a:path w="10287000" h="18288000">
                <a:moveTo>
                  <a:pt x="0" y="18288000"/>
                </a:moveTo>
                <a:lnTo>
                  <a:pt x="0" y="0"/>
                </a:lnTo>
                <a:lnTo>
                  <a:pt x="10287000" y="0"/>
                </a:lnTo>
                <a:lnTo>
                  <a:pt x="10287000" y="18288000"/>
                </a:lnTo>
                <a:lnTo>
                  <a:pt x="0" y="18288000"/>
                </a:lnTo>
                <a:close/>
              </a:path>
            </a:pathLst>
          </a:custGeom>
          <a:blipFill>
            <a:blip r:embed="rId2"/>
            <a:stretch>
              <a:fillRect l="-12666" r="-12666"/>
            </a:stretch>
          </a:blipFill>
        </p:spPr>
      </p:sp>
      <p:sp>
        <p:nvSpPr>
          <p:cNvPr id="3" name="Freeform 3"/>
          <p:cNvSpPr/>
          <p:nvPr/>
        </p:nvSpPr>
        <p:spPr>
          <a:xfrm flipH="1">
            <a:off x="8845486" y="6607652"/>
            <a:ext cx="9715836" cy="3983493"/>
          </a:xfrm>
          <a:custGeom>
            <a:avLst/>
            <a:gdLst/>
            <a:ahLst/>
            <a:cxnLst/>
            <a:rect l="l" t="t" r="r" b="b"/>
            <a:pathLst>
              <a:path w="9715836" h="3983493">
                <a:moveTo>
                  <a:pt x="9715836" y="0"/>
                </a:moveTo>
                <a:lnTo>
                  <a:pt x="0" y="0"/>
                </a:lnTo>
                <a:lnTo>
                  <a:pt x="0" y="3983492"/>
                </a:lnTo>
                <a:lnTo>
                  <a:pt x="9715836" y="3983492"/>
                </a:lnTo>
                <a:lnTo>
                  <a:pt x="9715836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4" name="Freeform 4"/>
          <p:cNvSpPr/>
          <p:nvPr/>
        </p:nvSpPr>
        <p:spPr>
          <a:xfrm>
            <a:off x="10109287" y="2395739"/>
            <a:ext cx="7041047" cy="3740556"/>
          </a:xfrm>
          <a:custGeom>
            <a:avLst/>
            <a:gdLst/>
            <a:ahLst/>
            <a:cxnLst/>
            <a:rect l="l" t="t" r="r" b="b"/>
            <a:pathLst>
              <a:path w="7041047" h="3740556">
                <a:moveTo>
                  <a:pt x="0" y="0"/>
                </a:moveTo>
                <a:lnTo>
                  <a:pt x="7041047" y="0"/>
                </a:lnTo>
                <a:lnTo>
                  <a:pt x="7041047" y="3740557"/>
                </a:lnTo>
                <a:lnTo>
                  <a:pt x="0" y="3740557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</p:sp>
      <p:sp>
        <p:nvSpPr>
          <p:cNvPr id="5" name="TextBox 5"/>
          <p:cNvSpPr txBox="1"/>
          <p:nvPr/>
        </p:nvSpPr>
        <p:spPr>
          <a:xfrm>
            <a:off x="917462" y="458832"/>
            <a:ext cx="16341838" cy="177675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965"/>
              </a:lnSpc>
            </a:pPr>
            <a:r>
              <a:rPr lang="en-US" sz="5804" spc="-58">
                <a:solidFill>
                  <a:srgbClr val="B6FBFF"/>
                </a:solidFill>
                <a:latin typeface="Mokoto"/>
                <a:ea typeface="Mokoto"/>
                <a:cs typeface="Mokoto"/>
                <a:sym typeface="Mokoto"/>
              </a:rPr>
              <a:t>task -9 Wireshark Network Traffic Capture 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4710176" y="3012132"/>
            <a:ext cx="2376424" cy="58039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4759"/>
              </a:lnSpc>
            </a:pPr>
            <a:r>
              <a:rPr lang="en-US" sz="3399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DNS :-&gt;</a:t>
            </a:r>
          </a:p>
        </p:txBody>
      </p:sp>
      <p:sp>
        <p:nvSpPr>
          <p:cNvPr id="7" name="Freeform 7"/>
          <p:cNvSpPr/>
          <p:nvPr/>
        </p:nvSpPr>
        <p:spPr>
          <a:xfrm>
            <a:off x="1130212" y="5143500"/>
            <a:ext cx="7239645" cy="3846062"/>
          </a:xfrm>
          <a:custGeom>
            <a:avLst/>
            <a:gdLst/>
            <a:ahLst/>
            <a:cxnLst/>
            <a:rect l="l" t="t" r="r" b="b"/>
            <a:pathLst>
              <a:path w="7239645" h="3846062">
                <a:moveTo>
                  <a:pt x="0" y="0"/>
                </a:moveTo>
                <a:lnTo>
                  <a:pt x="7239646" y="0"/>
                </a:lnTo>
                <a:lnTo>
                  <a:pt x="7239646" y="3846062"/>
                </a:lnTo>
                <a:lnTo>
                  <a:pt x="0" y="3846062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</p:sp>
      <p:sp>
        <p:nvSpPr>
          <p:cNvPr id="8" name="TextBox 8"/>
          <p:cNvSpPr txBox="1"/>
          <p:nvPr/>
        </p:nvSpPr>
        <p:spPr>
          <a:xfrm>
            <a:off x="9139238" y="5089273"/>
            <a:ext cx="9525" cy="58039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759"/>
              </a:lnSpc>
            </a:pPr>
            <a:endParaRPr/>
          </a:p>
        </p:txBody>
      </p:sp>
      <p:sp>
        <p:nvSpPr>
          <p:cNvPr id="9" name="TextBox 9"/>
          <p:cNvSpPr txBox="1"/>
          <p:nvPr/>
        </p:nvSpPr>
        <p:spPr>
          <a:xfrm>
            <a:off x="11733382" y="6999856"/>
            <a:ext cx="2287418" cy="58039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4759"/>
              </a:lnSpc>
            </a:pPr>
            <a:r>
              <a:rPr lang="en-US" sz="3399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 &lt;-: TCP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5400000">
            <a:off x="4000500" y="-4000500"/>
            <a:ext cx="10287000" cy="18288000"/>
          </a:xfrm>
          <a:custGeom>
            <a:avLst/>
            <a:gdLst/>
            <a:ahLst/>
            <a:cxnLst/>
            <a:rect l="l" t="t" r="r" b="b"/>
            <a:pathLst>
              <a:path w="10287000" h="18288000">
                <a:moveTo>
                  <a:pt x="0" y="18288000"/>
                </a:moveTo>
                <a:lnTo>
                  <a:pt x="0" y="0"/>
                </a:lnTo>
                <a:lnTo>
                  <a:pt x="10287000" y="0"/>
                </a:lnTo>
                <a:lnTo>
                  <a:pt x="10287000" y="18288000"/>
                </a:lnTo>
                <a:lnTo>
                  <a:pt x="0" y="18288000"/>
                </a:lnTo>
                <a:close/>
              </a:path>
            </a:pathLst>
          </a:custGeom>
          <a:blipFill>
            <a:blip r:embed="rId2"/>
            <a:stretch>
              <a:fillRect l="-12666" r="-12666"/>
            </a:stretch>
          </a:blipFill>
        </p:spPr>
      </p:sp>
      <p:sp>
        <p:nvSpPr>
          <p:cNvPr id="3" name="Freeform 3"/>
          <p:cNvSpPr/>
          <p:nvPr/>
        </p:nvSpPr>
        <p:spPr>
          <a:xfrm>
            <a:off x="947363" y="592898"/>
            <a:ext cx="8196637" cy="4354464"/>
          </a:xfrm>
          <a:custGeom>
            <a:avLst/>
            <a:gdLst/>
            <a:ahLst/>
            <a:cxnLst/>
            <a:rect l="l" t="t" r="r" b="b"/>
            <a:pathLst>
              <a:path w="8196637" h="4354464">
                <a:moveTo>
                  <a:pt x="0" y="0"/>
                </a:moveTo>
                <a:lnTo>
                  <a:pt x="8196637" y="0"/>
                </a:lnTo>
                <a:lnTo>
                  <a:pt x="8196637" y="4354464"/>
                </a:lnTo>
                <a:lnTo>
                  <a:pt x="0" y="435446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</p:sp>
      <p:sp>
        <p:nvSpPr>
          <p:cNvPr id="4" name="Freeform 4"/>
          <p:cNvSpPr/>
          <p:nvPr/>
        </p:nvSpPr>
        <p:spPr>
          <a:xfrm>
            <a:off x="9448386" y="5143500"/>
            <a:ext cx="8371971" cy="4447610"/>
          </a:xfrm>
          <a:custGeom>
            <a:avLst/>
            <a:gdLst/>
            <a:ahLst/>
            <a:cxnLst/>
            <a:rect l="l" t="t" r="r" b="b"/>
            <a:pathLst>
              <a:path w="8371971" h="4447610">
                <a:moveTo>
                  <a:pt x="0" y="0"/>
                </a:moveTo>
                <a:lnTo>
                  <a:pt x="8371971" y="0"/>
                </a:lnTo>
                <a:lnTo>
                  <a:pt x="8371971" y="4447610"/>
                </a:lnTo>
                <a:lnTo>
                  <a:pt x="0" y="444761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</p:sp>
      <p:sp>
        <p:nvSpPr>
          <p:cNvPr id="5" name="TextBox 5"/>
          <p:cNvSpPr txBox="1"/>
          <p:nvPr/>
        </p:nvSpPr>
        <p:spPr>
          <a:xfrm>
            <a:off x="11629006" y="2059515"/>
            <a:ext cx="1767364" cy="58039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759"/>
              </a:lnSpc>
            </a:pPr>
            <a:r>
              <a:rPr lang="en-US" sz="3399" b="1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&lt;-: icmp 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4632187" y="6377658"/>
            <a:ext cx="1490067" cy="58039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759"/>
              </a:lnSpc>
            </a:pPr>
            <a:r>
              <a:rPr lang="en-US" sz="3399" b="1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ARP :-&gt;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5400000">
            <a:off x="4000500" y="-4000500"/>
            <a:ext cx="10287000" cy="18288000"/>
          </a:xfrm>
          <a:custGeom>
            <a:avLst/>
            <a:gdLst/>
            <a:ahLst/>
            <a:cxnLst/>
            <a:rect l="l" t="t" r="r" b="b"/>
            <a:pathLst>
              <a:path w="10287000" h="18288000">
                <a:moveTo>
                  <a:pt x="0" y="18288000"/>
                </a:moveTo>
                <a:lnTo>
                  <a:pt x="0" y="0"/>
                </a:lnTo>
                <a:lnTo>
                  <a:pt x="10287000" y="0"/>
                </a:lnTo>
                <a:lnTo>
                  <a:pt x="10287000" y="18288000"/>
                </a:lnTo>
                <a:lnTo>
                  <a:pt x="0" y="18288000"/>
                </a:lnTo>
                <a:close/>
              </a:path>
            </a:pathLst>
          </a:custGeom>
          <a:blipFill>
            <a:blip r:embed="rId2"/>
            <a:stretch>
              <a:fillRect l="-12666" r="-12666"/>
            </a:stretch>
          </a:blipFill>
        </p:spPr>
      </p:sp>
      <p:sp>
        <p:nvSpPr>
          <p:cNvPr id="3" name="Freeform 3"/>
          <p:cNvSpPr/>
          <p:nvPr/>
        </p:nvSpPr>
        <p:spPr>
          <a:xfrm flipH="1" flipV="1">
            <a:off x="10482289" y="-177038"/>
            <a:ext cx="8008918" cy="3523924"/>
          </a:xfrm>
          <a:custGeom>
            <a:avLst/>
            <a:gdLst/>
            <a:ahLst/>
            <a:cxnLst/>
            <a:rect l="l" t="t" r="r" b="b"/>
            <a:pathLst>
              <a:path w="8008918" h="3523924">
                <a:moveTo>
                  <a:pt x="8008918" y="3523924"/>
                </a:moveTo>
                <a:lnTo>
                  <a:pt x="0" y="3523924"/>
                </a:lnTo>
                <a:lnTo>
                  <a:pt x="0" y="0"/>
                </a:lnTo>
                <a:lnTo>
                  <a:pt x="8008918" y="0"/>
                </a:lnTo>
                <a:lnTo>
                  <a:pt x="8008918" y="3523924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4" name="Freeform 4"/>
          <p:cNvSpPr/>
          <p:nvPr/>
        </p:nvSpPr>
        <p:spPr>
          <a:xfrm>
            <a:off x="5523269" y="5143500"/>
            <a:ext cx="6811823" cy="4863941"/>
          </a:xfrm>
          <a:custGeom>
            <a:avLst/>
            <a:gdLst/>
            <a:ahLst/>
            <a:cxnLst/>
            <a:rect l="l" t="t" r="r" b="b"/>
            <a:pathLst>
              <a:path w="6811823" h="4863941">
                <a:moveTo>
                  <a:pt x="0" y="0"/>
                </a:moveTo>
                <a:lnTo>
                  <a:pt x="6811823" y="0"/>
                </a:lnTo>
                <a:lnTo>
                  <a:pt x="6811823" y="4863941"/>
                </a:lnTo>
                <a:lnTo>
                  <a:pt x="0" y="486394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</p:sp>
      <p:sp>
        <p:nvSpPr>
          <p:cNvPr id="5" name="TextBox 5"/>
          <p:cNvSpPr txBox="1"/>
          <p:nvPr/>
        </p:nvSpPr>
        <p:spPr>
          <a:xfrm>
            <a:off x="243123" y="416586"/>
            <a:ext cx="17132187" cy="157094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6993"/>
              </a:lnSpc>
            </a:pPr>
            <a:r>
              <a:rPr lang="en-US" sz="5827" spc="-58" dirty="0">
                <a:solidFill>
                  <a:srgbClr val="B6FBFF"/>
                </a:solidFill>
                <a:latin typeface="Mokoto"/>
                <a:ea typeface="Mokoto"/>
                <a:cs typeface="Mokoto"/>
                <a:sym typeface="Mokoto"/>
              </a:rPr>
              <a:t>TASK - 10 Nmap + Wireshark    Investigation 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27001" y="2404115"/>
            <a:ext cx="16158141" cy="298069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759"/>
              </a:lnSpc>
            </a:pPr>
            <a:r>
              <a:rPr lang="en-US" sz="3399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This screenshot shows a Kali Linux terminal window executing an Nmap TCP SYN stealth scan against target IP address 10.0.2.3. The command sudo nmap -sS 10.0.2.3 was issued, leveraging root privileges to craft raw SYN packets and evaluate target port states without establishing full TCP connections. </a:t>
            </a:r>
          </a:p>
          <a:p>
            <a:pPr algn="ctr">
              <a:lnSpc>
                <a:spcPts val="4759"/>
              </a:lnSpc>
            </a:pPr>
            <a:endParaRPr lang="en-US" sz="3399">
              <a:solidFill>
                <a:srgbClr val="FFFFFF"/>
              </a:solidFill>
              <a:latin typeface="Canva Sans"/>
              <a:ea typeface="Canva Sans"/>
              <a:cs typeface="Canva Sans"/>
              <a:sym typeface="Canva Sans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5400000">
            <a:off x="4000500" y="-4000500"/>
            <a:ext cx="10287000" cy="18288000"/>
          </a:xfrm>
          <a:custGeom>
            <a:avLst/>
            <a:gdLst/>
            <a:ahLst/>
            <a:cxnLst/>
            <a:rect l="l" t="t" r="r" b="b"/>
            <a:pathLst>
              <a:path w="10287000" h="18288000">
                <a:moveTo>
                  <a:pt x="0" y="18288000"/>
                </a:moveTo>
                <a:lnTo>
                  <a:pt x="0" y="0"/>
                </a:lnTo>
                <a:lnTo>
                  <a:pt x="10287000" y="0"/>
                </a:lnTo>
                <a:lnTo>
                  <a:pt x="10287000" y="18288000"/>
                </a:lnTo>
                <a:lnTo>
                  <a:pt x="0" y="18288000"/>
                </a:lnTo>
                <a:close/>
              </a:path>
            </a:pathLst>
          </a:custGeom>
          <a:blipFill>
            <a:blip r:embed="rId2"/>
            <a:stretch>
              <a:fillRect l="-12666" r="-12666"/>
            </a:stretch>
          </a:blipFill>
        </p:spPr>
      </p:sp>
      <p:sp>
        <p:nvSpPr>
          <p:cNvPr id="3" name="Freeform 3"/>
          <p:cNvSpPr/>
          <p:nvPr/>
        </p:nvSpPr>
        <p:spPr>
          <a:xfrm>
            <a:off x="0" y="4250033"/>
            <a:ext cx="14158423" cy="6229706"/>
          </a:xfrm>
          <a:custGeom>
            <a:avLst/>
            <a:gdLst/>
            <a:ahLst/>
            <a:cxnLst/>
            <a:rect l="l" t="t" r="r" b="b"/>
            <a:pathLst>
              <a:path w="14158423" h="6229706">
                <a:moveTo>
                  <a:pt x="0" y="0"/>
                </a:moveTo>
                <a:lnTo>
                  <a:pt x="14158423" y="0"/>
                </a:lnTo>
                <a:lnTo>
                  <a:pt x="14158423" y="6229706"/>
                </a:lnTo>
                <a:lnTo>
                  <a:pt x="0" y="6229706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4" name="Freeform 4"/>
          <p:cNvSpPr/>
          <p:nvPr/>
        </p:nvSpPr>
        <p:spPr>
          <a:xfrm>
            <a:off x="10984773" y="2627231"/>
            <a:ext cx="889055" cy="889055"/>
          </a:xfrm>
          <a:custGeom>
            <a:avLst/>
            <a:gdLst/>
            <a:ahLst/>
            <a:cxnLst/>
            <a:rect l="l" t="t" r="r" b="b"/>
            <a:pathLst>
              <a:path w="889055" h="889055">
                <a:moveTo>
                  <a:pt x="0" y="0"/>
                </a:moveTo>
                <a:lnTo>
                  <a:pt x="889055" y="0"/>
                </a:lnTo>
                <a:lnTo>
                  <a:pt x="889055" y="889055"/>
                </a:lnTo>
                <a:lnTo>
                  <a:pt x="0" y="889055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</p:sp>
      <p:sp>
        <p:nvSpPr>
          <p:cNvPr id="5" name="Freeform 5"/>
          <p:cNvSpPr/>
          <p:nvPr/>
        </p:nvSpPr>
        <p:spPr>
          <a:xfrm>
            <a:off x="2546603" y="2627231"/>
            <a:ext cx="13457222" cy="7149149"/>
          </a:xfrm>
          <a:custGeom>
            <a:avLst/>
            <a:gdLst/>
            <a:ahLst/>
            <a:cxnLst/>
            <a:rect l="l" t="t" r="r" b="b"/>
            <a:pathLst>
              <a:path w="13457222" h="7149149">
                <a:moveTo>
                  <a:pt x="0" y="0"/>
                </a:moveTo>
                <a:lnTo>
                  <a:pt x="13457222" y="0"/>
                </a:lnTo>
                <a:lnTo>
                  <a:pt x="13457222" y="7149149"/>
                </a:lnTo>
                <a:lnTo>
                  <a:pt x="0" y="714914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</p:sp>
      <p:sp>
        <p:nvSpPr>
          <p:cNvPr id="6" name="TextBox 6"/>
          <p:cNvSpPr txBox="1"/>
          <p:nvPr/>
        </p:nvSpPr>
        <p:spPr>
          <a:xfrm>
            <a:off x="251494" y="747023"/>
            <a:ext cx="17785012" cy="23247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620"/>
              </a:lnSpc>
            </a:pPr>
            <a:r>
              <a:rPr lang="en-US" sz="3300" b="1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TCP SYN : This screenshot shows Wireshark running on Kali Linux with the display filter set to tcp.flags.syn == 1. This filter isolates all TCP synchronization packets, capturing initial connection attempts across the eth0 network interface. </a:t>
            </a:r>
          </a:p>
          <a:p>
            <a:pPr algn="ctr">
              <a:lnSpc>
                <a:spcPts val="4759"/>
              </a:lnSpc>
            </a:pPr>
            <a:endParaRPr lang="en-US" sz="3300" b="1">
              <a:solidFill>
                <a:srgbClr val="FFFFFF"/>
              </a:solidFill>
              <a:latin typeface="Canva Sans Bold"/>
              <a:ea typeface="Canva Sans Bold"/>
              <a:cs typeface="Canva Sans Bold"/>
              <a:sym typeface="Canva Sans Bold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5400000">
            <a:off x="4000500" y="-4000500"/>
            <a:ext cx="10287000" cy="18288000"/>
          </a:xfrm>
          <a:custGeom>
            <a:avLst/>
            <a:gdLst/>
            <a:ahLst/>
            <a:cxnLst/>
            <a:rect l="l" t="t" r="r" b="b"/>
            <a:pathLst>
              <a:path w="10287000" h="18288000">
                <a:moveTo>
                  <a:pt x="0" y="18288000"/>
                </a:moveTo>
                <a:lnTo>
                  <a:pt x="0" y="0"/>
                </a:lnTo>
                <a:lnTo>
                  <a:pt x="10287000" y="0"/>
                </a:lnTo>
                <a:lnTo>
                  <a:pt x="10287000" y="18288000"/>
                </a:lnTo>
                <a:lnTo>
                  <a:pt x="0" y="18288000"/>
                </a:lnTo>
                <a:close/>
              </a:path>
            </a:pathLst>
          </a:custGeom>
          <a:blipFill>
            <a:blip r:embed="rId2"/>
            <a:stretch>
              <a:fillRect l="-12666" r="-12666"/>
            </a:stretch>
          </a:blipFill>
        </p:spPr>
      </p:sp>
      <p:sp>
        <p:nvSpPr>
          <p:cNvPr id="3" name="Freeform 3"/>
          <p:cNvSpPr/>
          <p:nvPr/>
        </p:nvSpPr>
        <p:spPr>
          <a:xfrm flipH="1">
            <a:off x="8845486" y="6607652"/>
            <a:ext cx="9715836" cy="3983493"/>
          </a:xfrm>
          <a:custGeom>
            <a:avLst/>
            <a:gdLst/>
            <a:ahLst/>
            <a:cxnLst/>
            <a:rect l="l" t="t" r="r" b="b"/>
            <a:pathLst>
              <a:path w="9715836" h="3983493">
                <a:moveTo>
                  <a:pt x="9715836" y="0"/>
                </a:moveTo>
                <a:lnTo>
                  <a:pt x="0" y="0"/>
                </a:lnTo>
                <a:lnTo>
                  <a:pt x="0" y="3983492"/>
                </a:lnTo>
                <a:lnTo>
                  <a:pt x="9715836" y="3983492"/>
                </a:lnTo>
                <a:lnTo>
                  <a:pt x="9715836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4" name="Freeform 4"/>
          <p:cNvSpPr/>
          <p:nvPr/>
        </p:nvSpPr>
        <p:spPr>
          <a:xfrm>
            <a:off x="533585" y="451590"/>
            <a:ext cx="8610415" cy="4574283"/>
          </a:xfrm>
          <a:custGeom>
            <a:avLst/>
            <a:gdLst/>
            <a:ahLst/>
            <a:cxnLst/>
            <a:rect l="l" t="t" r="r" b="b"/>
            <a:pathLst>
              <a:path w="8610415" h="4574283">
                <a:moveTo>
                  <a:pt x="0" y="0"/>
                </a:moveTo>
                <a:lnTo>
                  <a:pt x="8610415" y="0"/>
                </a:lnTo>
                <a:lnTo>
                  <a:pt x="8610415" y="4574283"/>
                </a:lnTo>
                <a:lnTo>
                  <a:pt x="0" y="4574283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</p:sp>
      <p:sp>
        <p:nvSpPr>
          <p:cNvPr id="5" name="Freeform 5"/>
          <p:cNvSpPr/>
          <p:nvPr/>
        </p:nvSpPr>
        <p:spPr>
          <a:xfrm>
            <a:off x="8551094" y="5143500"/>
            <a:ext cx="8901057" cy="4728686"/>
          </a:xfrm>
          <a:custGeom>
            <a:avLst/>
            <a:gdLst/>
            <a:ahLst/>
            <a:cxnLst/>
            <a:rect l="l" t="t" r="r" b="b"/>
            <a:pathLst>
              <a:path w="8901057" h="4728686">
                <a:moveTo>
                  <a:pt x="0" y="0"/>
                </a:moveTo>
                <a:lnTo>
                  <a:pt x="8901056" y="0"/>
                </a:lnTo>
                <a:lnTo>
                  <a:pt x="8901056" y="4728686"/>
                </a:lnTo>
                <a:lnTo>
                  <a:pt x="0" y="4728686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</p:sp>
      <p:sp>
        <p:nvSpPr>
          <p:cNvPr id="6" name="TextBox 6"/>
          <p:cNvSpPr txBox="1"/>
          <p:nvPr/>
        </p:nvSpPr>
        <p:spPr>
          <a:xfrm>
            <a:off x="14579656" y="7895687"/>
            <a:ext cx="2440386" cy="6286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473"/>
              </a:lnSpc>
              <a:spcBef>
                <a:spcPct val="0"/>
              </a:spcBef>
            </a:pPr>
            <a:r>
              <a:rPr lang="en-US" sz="2061">
                <a:solidFill>
                  <a:srgbClr val="0F034F"/>
                </a:solidFill>
                <a:latin typeface="Poppins"/>
                <a:ea typeface="Poppins"/>
                <a:cs typeface="Poppins"/>
                <a:sym typeface="Poppins"/>
              </a:rPr>
              <a:t>Continuous Zero-Trust Security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5400000">
            <a:off x="4000500" y="-4000500"/>
            <a:ext cx="10287000" cy="18288000"/>
          </a:xfrm>
          <a:custGeom>
            <a:avLst/>
            <a:gdLst/>
            <a:ahLst/>
            <a:cxnLst/>
            <a:rect l="l" t="t" r="r" b="b"/>
            <a:pathLst>
              <a:path w="10287000" h="18288000">
                <a:moveTo>
                  <a:pt x="0" y="18288000"/>
                </a:moveTo>
                <a:lnTo>
                  <a:pt x="0" y="0"/>
                </a:lnTo>
                <a:lnTo>
                  <a:pt x="10287000" y="0"/>
                </a:lnTo>
                <a:lnTo>
                  <a:pt x="10287000" y="18288000"/>
                </a:lnTo>
                <a:lnTo>
                  <a:pt x="0" y="18288000"/>
                </a:lnTo>
                <a:close/>
              </a:path>
            </a:pathLst>
          </a:custGeom>
          <a:blipFill>
            <a:blip r:embed="rId2"/>
            <a:stretch>
              <a:fillRect l="-12666" r="-12666"/>
            </a:stretch>
          </a:blipFill>
        </p:spPr>
      </p:sp>
      <p:sp>
        <p:nvSpPr>
          <p:cNvPr id="3" name="Freeform 3"/>
          <p:cNvSpPr/>
          <p:nvPr/>
        </p:nvSpPr>
        <p:spPr>
          <a:xfrm>
            <a:off x="-208675" y="4319854"/>
            <a:ext cx="14158423" cy="6229706"/>
          </a:xfrm>
          <a:custGeom>
            <a:avLst/>
            <a:gdLst/>
            <a:ahLst/>
            <a:cxnLst/>
            <a:rect l="l" t="t" r="r" b="b"/>
            <a:pathLst>
              <a:path w="14158423" h="6229706">
                <a:moveTo>
                  <a:pt x="0" y="0"/>
                </a:moveTo>
                <a:lnTo>
                  <a:pt x="14158423" y="0"/>
                </a:lnTo>
                <a:lnTo>
                  <a:pt x="14158423" y="6229707"/>
                </a:lnTo>
                <a:lnTo>
                  <a:pt x="0" y="6229707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5" name="TextBox 5"/>
          <p:cNvSpPr txBox="1"/>
          <p:nvPr/>
        </p:nvSpPr>
        <p:spPr>
          <a:xfrm>
            <a:off x="771802" y="1019175"/>
            <a:ext cx="16750635" cy="20383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5383"/>
              </a:lnSpc>
            </a:pPr>
            <a:r>
              <a:rPr lang="en-US" sz="4486" spc="-381">
                <a:solidFill>
                  <a:srgbClr val="B6FBFF"/>
                </a:solidFill>
                <a:latin typeface="Mokoto"/>
                <a:ea typeface="Mokoto"/>
                <a:cs typeface="Mokoto"/>
                <a:sym typeface="Mokoto"/>
              </a:rPr>
              <a:t>Task 11 – Advanced Network Traffic Investigation </a:t>
            </a:r>
          </a:p>
          <a:p>
            <a:pPr algn="just">
              <a:lnSpc>
                <a:spcPts val="5383"/>
              </a:lnSpc>
            </a:pPr>
            <a:endParaRPr lang="en-US" sz="4486" spc="-381">
              <a:solidFill>
                <a:srgbClr val="B6FBFF"/>
              </a:solidFill>
              <a:latin typeface="Mokoto"/>
              <a:ea typeface="Mokoto"/>
              <a:cs typeface="Mokoto"/>
              <a:sym typeface="Mokoto"/>
            </a:endParaRP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842BD3A7-E545-88D9-9E5D-AE14F7159E1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8200672"/>
              </p:ext>
            </p:extLst>
          </p:nvPr>
        </p:nvGraphicFramePr>
        <p:xfrm>
          <a:off x="1447800" y="3619500"/>
          <a:ext cx="14706600" cy="5867403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880360">
                  <a:extLst>
                    <a:ext uri="{9D8B030D-6E8A-4147-A177-3AD203B41FA5}">
                      <a16:colId xmlns:a16="http://schemas.microsoft.com/office/drawing/2014/main" val="2320542840"/>
                    </a:ext>
                  </a:extLst>
                </a:gridCol>
                <a:gridCol w="2956560">
                  <a:extLst>
                    <a:ext uri="{9D8B030D-6E8A-4147-A177-3AD203B41FA5}">
                      <a16:colId xmlns:a16="http://schemas.microsoft.com/office/drawing/2014/main" val="858241357"/>
                    </a:ext>
                  </a:extLst>
                </a:gridCol>
                <a:gridCol w="2956560">
                  <a:extLst>
                    <a:ext uri="{9D8B030D-6E8A-4147-A177-3AD203B41FA5}">
                      <a16:colId xmlns:a16="http://schemas.microsoft.com/office/drawing/2014/main" val="1983523175"/>
                    </a:ext>
                  </a:extLst>
                </a:gridCol>
                <a:gridCol w="2956560">
                  <a:extLst>
                    <a:ext uri="{9D8B030D-6E8A-4147-A177-3AD203B41FA5}">
                      <a16:colId xmlns:a16="http://schemas.microsoft.com/office/drawing/2014/main" val="2688532026"/>
                    </a:ext>
                  </a:extLst>
                </a:gridCol>
                <a:gridCol w="2956560">
                  <a:extLst>
                    <a:ext uri="{9D8B030D-6E8A-4147-A177-3AD203B41FA5}">
                      <a16:colId xmlns:a16="http://schemas.microsoft.com/office/drawing/2014/main" val="3122859283"/>
                    </a:ext>
                  </a:extLst>
                </a:gridCol>
              </a:tblGrid>
              <a:tr h="51430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>
                          <a:effectLst/>
                        </a:rPr>
                        <a:t>No.</a:t>
                      </a:r>
                    </a:p>
                  </a:txBody>
                  <a:tcPr marL="49452" marR="49452" marT="24726" marB="24726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>
                          <a:effectLst/>
                        </a:rPr>
                        <a:t>Traffic/Event</a:t>
                      </a:r>
                    </a:p>
                  </a:txBody>
                  <a:tcPr marL="49452" marR="49452" marT="24726" marB="24726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>
                          <a:effectLst/>
                        </a:rPr>
                        <a:t>Wireshark Filter</a:t>
                      </a:r>
                    </a:p>
                  </a:txBody>
                  <a:tcPr marL="49452" marR="49452" marT="24726" marB="24726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>
                          <a:effectLst/>
                        </a:rPr>
                        <a:t>Observation</a:t>
                      </a:r>
                    </a:p>
                  </a:txBody>
                  <a:tcPr marL="49452" marR="49452" marT="24726" marB="24726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>
                          <a:effectLst/>
                        </a:rPr>
                        <a:t>Interpretation</a:t>
                      </a:r>
                    </a:p>
                  </a:txBody>
                  <a:tcPr marL="49452" marR="49452" marT="24726" marB="24726" anchor="ctr"/>
                </a:tc>
                <a:extLst>
                  <a:ext uri="{0D108BD9-81ED-4DB2-BD59-A6C34878D82A}">
                    <a16:rowId xmlns:a16="http://schemas.microsoft.com/office/drawing/2014/main" val="902052934"/>
                  </a:ext>
                </a:extLst>
              </a:tr>
              <a:tr h="86547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>
                          <a:effectLst/>
                        </a:rPr>
                        <a:t>1</a:t>
                      </a:r>
                    </a:p>
                  </a:txBody>
                  <a:tcPr marL="49452" marR="49452" marT="24726" marB="24726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dirty="0">
                          <a:effectLst/>
                        </a:rPr>
                        <a:t>DNS queries</a:t>
                      </a:r>
                    </a:p>
                  </a:txBody>
                  <a:tcPr marL="49452" marR="49452" marT="24726" marB="24726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>
                          <a:effectLst/>
                        </a:rPr>
                        <a:t>dns</a:t>
                      </a:r>
                    </a:p>
                  </a:txBody>
                  <a:tcPr marL="49452" marR="49452" marT="24726" marB="24726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>
                          <a:effectLst/>
                        </a:rPr>
                        <a:t>DNS queries and responses were observed between Kali and the DNS server.</a:t>
                      </a:r>
                    </a:p>
                  </a:txBody>
                  <a:tcPr marL="49452" marR="49452" marT="24726" marB="24726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>
                          <a:effectLst/>
                        </a:rPr>
                        <a:t>Normal name-resolution activity was observed.</a:t>
                      </a:r>
                    </a:p>
                  </a:txBody>
                  <a:tcPr marL="49452" marR="49452" marT="24726" marB="24726" anchor="ctr"/>
                </a:tc>
                <a:extLst>
                  <a:ext uri="{0D108BD9-81ED-4DB2-BD59-A6C34878D82A}">
                    <a16:rowId xmlns:a16="http://schemas.microsoft.com/office/drawing/2014/main" val="1771465734"/>
                  </a:ext>
                </a:extLst>
              </a:tr>
              <a:tr h="102574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>
                          <a:effectLst/>
                        </a:rPr>
                        <a:t>2</a:t>
                      </a:r>
                    </a:p>
                  </a:txBody>
                  <a:tcPr marL="49452" marR="49452" marT="24726" marB="24726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>
                          <a:effectLst/>
                        </a:rPr>
                        <a:t>TCP traffic</a:t>
                      </a:r>
                    </a:p>
                  </a:txBody>
                  <a:tcPr marL="49452" marR="49452" marT="24726" marB="24726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>
                          <a:effectLst/>
                        </a:rPr>
                        <a:t>tcp</a:t>
                      </a:r>
                    </a:p>
                  </a:txBody>
                  <a:tcPr marL="49452" marR="49452" marT="24726" marB="24726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>
                          <a:effectLst/>
                        </a:rPr>
                        <a:t>TCP packets including connection establishment traffic were captured.</a:t>
                      </a:r>
                    </a:p>
                  </a:txBody>
                  <a:tcPr marL="49452" marR="49452" marT="24726" marB="24726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>
                          <a:effectLst/>
                        </a:rPr>
                        <a:t>Indicates normal TCP communication in the lab.</a:t>
                      </a:r>
                    </a:p>
                  </a:txBody>
                  <a:tcPr marL="49452" marR="49452" marT="24726" marB="24726" anchor="ctr"/>
                </a:tc>
                <a:extLst>
                  <a:ext uri="{0D108BD9-81ED-4DB2-BD59-A6C34878D82A}">
                    <a16:rowId xmlns:a16="http://schemas.microsoft.com/office/drawing/2014/main" val="3365229719"/>
                  </a:ext>
                </a:extLst>
              </a:tr>
              <a:tr h="86547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>
                          <a:effectLst/>
                        </a:rPr>
                        <a:t>3</a:t>
                      </a:r>
                    </a:p>
                  </a:txBody>
                  <a:tcPr marL="49452" marR="49452" marT="24726" marB="24726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>
                          <a:effectLst/>
                        </a:rPr>
                        <a:t>TCP SYN packets</a:t>
                      </a:r>
                    </a:p>
                  </a:txBody>
                  <a:tcPr marL="49452" marR="49452" marT="24726" marB="24726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>
                          <a:effectLst/>
                        </a:rPr>
                        <a:t>tcp.flags.syn == 1</a:t>
                      </a:r>
                    </a:p>
                  </a:txBody>
                  <a:tcPr marL="49452" marR="49452" marT="24726" marB="24726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>
                          <a:effectLst/>
                        </a:rPr>
                        <a:t>SYN packets were generated during Nmap scanning.</a:t>
                      </a:r>
                    </a:p>
                  </a:txBody>
                  <a:tcPr marL="49452" marR="49452" marT="24726" marB="24726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>
                          <a:effectLst/>
                        </a:rPr>
                        <a:t>Represents attempts to establish TCP connections with the target.</a:t>
                      </a:r>
                    </a:p>
                  </a:txBody>
                  <a:tcPr marL="49452" marR="49452" marT="24726" marB="24726" anchor="ctr"/>
                </a:tc>
                <a:extLst>
                  <a:ext uri="{0D108BD9-81ED-4DB2-BD59-A6C34878D82A}">
                    <a16:rowId xmlns:a16="http://schemas.microsoft.com/office/drawing/2014/main" val="1441008775"/>
                  </a:ext>
                </a:extLst>
              </a:tr>
              <a:tr h="86547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>
                          <a:effectLst/>
                        </a:rPr>
                        <a:t>4</a:t>
                      </a:r>
                    </a:p>
                  </a:txBody>
                  <a:tcPr marL="49452" marR="49452" marT="24726" marB="24726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>
                          <a:effectLst/>
                        </a:rPr>
                        <a:t>TCP RST packets</a:t>
                      </a:r>
                    </a:p>
                  </a:txBody>
                  <a:tcPr marL="49452" marR="49452" marT="24726" marB="24726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>
                          <a:effectLst/>
                        </a:rPr>
                        <a:t>tcp.flags.reset == 1</a:t>
                      </a:r>
                    </a:p>
                  </a:txBody>
                  <a:tcPr marL="49452" marR="49452" marT="24726" marB="24726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>
                          <a:effectLst/>
                        </a:rPr>
                        <a:t>RST/ACK packets were observed from the Windows 7 VM.</a:t>
                      </a:r>
                    </a:p>
                  </a:txBody>
                  <a:tcPr marL="49452" marR="49452" marT="24726" marB="24726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>
                          <a:effectLst/>
                        </a:rPr>
                        <a:t>Indicates that some TCP connection attempts were rejected or reset.</a:t>
                      </a:r>
                    </a:p>
                  </a:txBody>
                  <a:tcPr marL="49452" marR="49452" marT="24726" marB="24726" anchor="ctr"/>
                </a:tc>
                <a:extLst>
                  <a:ext uri="{0D108BD9-81ED-4DB2-BD59-A6C34878D82A}">
                    <a16:rowId xmlns:a16="http://schemas.microsoft.com/office/drawing/2014/main" val="2873318151"/>
                  </a:ext>
                </a:extLst>
              </a:tr>
              <a:tr h="102574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>
                          <a:effectLst/>
                        </a:rPr>
                        <a:t>5</a:t>
                      </a:r>
                    </a:p>
                  </a:txBody>
                  <a:tcPr marL="49452" marR="49452" marT="24726" marB="24726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>
                          <a:effectLst/>
                        </a:rPr>
                        <a:t>ICMP traffic</a:t>
                      </a:r>
                    </a:p>
                  </a:txBody>
                  <a:tcPr marL="49452" marR="49452" marT="24726" marB="24726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>
                          <a:effectLst/>
                        </a:rPr>
                        <a:t>icmp</a:t>
                      </a:r>
                    </a:p>
                  </a:txBody>
                  <a:tcPr marL="49452" marR="49452" marT="24726" marB="24726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>
                          <a:effectLst/>
                        </a:rPr>
                        <a:t>ICMP Echo Request/Reply packets were observed during connectivity testing.</a:t>
                      </a:r>
                    </a:p>
                  </a:txBody>
                  <a:tcPr marL="49452" marR="49452" marT="24726" marB="24726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>
                          <a:effectLst/>
                        </a:rPr>
                        <a:t>Confirms communication between the Kali and Windows 7 VMs.</a:t>
                      </a:r>
                    </a:p>
                  </a:txBody>
                  <a:tcPr marL="49452" marR="49452" marT="24726" marB="24726" anchor="ctr"/>
                </a:tc>
                <a:extLst>
                  <a:ext uri="{0D108BD9-81ED-4DB2-BD59-A6C34878D82A}">
                    <a16:rowId xmlns:a16="http://schemas.microsoft.com/office/drawing/2014/main" val="1724703950"/>
                  </a:ext>
                </a:extLst>
              </a:tr>
              <a:tr h="70519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>
                          <a:effectLst/>
                        </a:rPr>
                        <a:t>6</a:t>
                      </a:r>
                    </a:p>
                  </a:txBody>
                  <a:tcPr marL="49452" marR="49452" marT="24726" marB="24726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>
                          <a:effectLst/>
                        </a:rPr>
                        <a:t>ARP traffic</a:t>
                      </a:r>
                    </a:p>
                  </a:txBody>
                  <a:tcPr marL="49452" marR="49452" marT="24726" marB="24726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>
                          <a:effectLst/>
                        </a:rPr>
                        <a:t>arp</a:t>
                      </a:r>
                    </a:p>
                  </a:txBody>
                  <a:tcPr marL="49452" marR="49452" marT="24726" marB="24726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>
                          <a:effectLst/>
                        </a:rPr>
                        <a:t>ARP packets were observed for IP-to-MAC address resolution.</a:t>
                      </a:r>
                    </a:p>
                  </a:txBody>
                  <a:tcPr marL="49452" marR="49452" marT="24726" marB="24726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dirty="0">
                          <a:effectLst/>
                        </a:rPr>
                        <a:t>Normal local network address-resolution activity.</a:t>
                      </a:r>
                    </a:p>
                  </a:txBody>
                  <a:tcPr marL="49452" marR="49452" marT="24726" marB="24726" anchor="ctr"/>
                </a:tc>
                <a:extLst>
                  <a:ext uri="{0D108BD9-81ED-4DB2-BD59-A6C34878D82A}">
                    <a16:rowId xmlns:a16="http://schemas.microsoft.com/office/drawing/2014/main" val="1322112189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5400000">
            <a:off x="4000500" y="-4000500"/>
            <a:ext cx="10287000" cy="18288000"/>
          </a:xfrm>
          <a:custGeom>
            <a:avLst/>
            <a:gdLst/>
            <a:ahLst/>
            <a:cxnLst/>
            <a:rect l="l" t="t" r="r" b="b"/>
            <a:pathLst>
              <a:path w="10287000" h="18288000">
                <a:moveTo>
                  <a:pt x="0" y="18288000"/>
                </a:moveTo>
                <a:lnTo>
                  <a:pt x="0" y="0"/>
                </a:lnTo>
                <a:lnTo>
                  <a:pt x="10287000" y="0"/>
                </a:lnTo>
                <a:lnTo>
                  <a:pt x="10287000" y="18288000"/>
                </a:lnTo>
                <a:lnTo>
                  <a:pt x="0" y="18288000"/>
                </a:lnTo>
                <a:close/>
              </a:path>
            </a:pathLst>
          </a:custGeom>
          <a:blipFill>
            <a:blip r:embed="rId2"/>
            <a:stretch>
              <a:fillRect l="-12666" r="-12666"/>
            </a:stretch>
          </a:blipFill>
        </p:spPr>
      </p:sp>
      <p:sp>
        <p:nvSpPr>
          <p:cNvPr id="3" name="Freeform 3"/>
          <p:cNvSpPr/>
          <p:nvPr/>
        </p:nvSpPr>
        <p:spPr>
          <a:xfrm flipH="1">
            <a:off x="8845486" y="6607652"/>
            <a:ext cx="9715836" cy="3983493"/>
          </a:xfrm>
          <a:custGeom>
            <a:avLst/>
            <a:gdLst/>
            <a:ahLst/>
            <a:cxnLst/>
            <a:rect l="l" t="t" r="r" b="b"/>
            <a:pathLst>
              <a:path w="9715836" h="3983493">
                <a:moveTo>
                  <a:pt x="9715836" y="0"/>
                </a:moveTo>
                <a:lnTo>
                  <a:pt x="0" y="0"/>
                </a:lnTo>
                <a:lnTo>
                  <a:pt x="0" y="3983492"/>
                </a:lnTo>
                <a:lnTo>
                  <a:pt x="9715836" y="3983492"/>
                </a:lnTo>
                <a:lnTo>
                  <a:pt x="9715836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4" name="Freeform 4"/>
          <p:cNvSpPr/>
          <p:nvPr/>
        </p:nvSpPr>
        <p:spPr>
          <a:xfrm>
            <a:off x="3899156" y="2881534"/>
            <a:ext cx="9804248" cy="7017658"/>
          </a:xfrm>
          <a:custGeom>
            <a:avLst/>
            <a:gdLst/>
            <a:ahLst/>
            <a:cxnLst/>
            <a:rect l="l" t="t" r="r" b="b"/>
            <a:pathLst>
              <a:path w="9804248" h="7017658">
                <a:moveTo>
                  <a:pt x="0" y="0"/>
                </a:moveTo>
                <a:lnTo>
                  <a:pt x="9804248" y="0"/>
                </a:lnTo>
                <a:lnTo>
                  <a:pt x="9804248" y="7017658"/>
                </a:lnTo>
                <a:lnTo>
                  <a:pt x="0" y="701765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</p:sp>
      <p:sp>
        <p:nvSpPr>
          <p:cNvPr id="5" name="TextBox 5"/>
          <p:cNvSpPr txBox="1"/>
          <p:nvPr/>
        </p:nvSpPr>
        <p:spPr>
          <a:xfrm>
            <a:off x="440622" y="805084"/>
            <a:ext cx="15900700" cy="20764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8183"/>
              </a:lnSpc>
            </a:pPr>
            <a:r>
              <a:rPr lang="en-US" sz="6819" spc="-68">
                <a:solidFill>
                  <a:srgbClr val="B6FBFF"/>
                </a:solidFill>
                <a:latin typeface="Mokoto"/>
                <a:ea typeface="Mokoto"/>
                <a:cs typeface="Mokoto"/>
                <a:sym typeface="Mokoto"/>
              </a:rPr>
              <a:t>TASK -12 Vulnerability Assessment 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000000">
                <a:alpha val="100000"/>
              </a:srgbClr>
            </a:gs>
            <a:gs pos="100000">
              <a:srgbClr val="3533CD">
                <a:alpha val="100000"/>
              </a:srgbClr>
            </a:gs>
          </a:gsLst>
          <a:lin ang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AF138A27-064B-AF46-4AC1-FB0868308F7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99744719"/>
              </p:ext>
            </p:extLst>
          </p:nvPr>
        </p:nvGraphicFramePr>
        <p:xfrm>
          <a:off x="1727470" y="1600200"/>
          <a:ext cx="14122130" cy="529589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824426">
                  <a:extLst>
                    <a:ext uri="{9D8B030D-6E8A-4147-A177-3AD203B41FA5}">
                      <a16:colId xmlns:a16="http://schemas.microsoft.com/office/drawing/2014/main" val="1922395467"/>
                    </a:ext>
                  </a:extLst>
                </a:gridCol>
                <a:gridCol w="2824426">
                  <a:extLst>
                    <a:ext uri="{9D8B030D-6E8A-4147-A177-3AD203B41FA5}">
                      <a16:colId xmlns:a16="http://schemas.microsoft.com/office/drawing/2014/main" val="3943587167"/>
                    </a:ext>
                  </a:extLst>
                </a:gridCol>
                <a:gridCol w="2824426">
                  <a:extLst>
                    <a:ext uri="{9D8B030D-6E8A-4147-A177-3AD203B41FA5}">
                      <a16:colId xmlns:a16="http://schemas.microsoft.com/office/drawing/2014/main" val="1283730467"/>
                    </a:ext>
                  </a:extLst>
                </a:gridCol>
                <a:gridCol w="2824426">
                  <a:extLst>
                    <a:ext uri="{9D8B030D-6E8A-4147-A177-3AD203B41FA5}">
                      <a16:colId xmlns:a16="http://schemas.microsoft.com/office/drawing/2014/main" val="720032875"/>
                    </a:ext>
                  </a:extLst>
                </a:gridCol>
                <a:gridCol w="2824426">
                  <a:extLst>
                    <a:ext uri="{9D8B030D-6E8A-4147-A177-3AD203B41FA5}">
                      <a16:colId xmlns:a16="http://schemas.microsoft.com/office/drawing/2014/main" val="798717775"/>
                    </a:ext>
                  </a:extLst>
                </a:gridCol>
              </a:tblGrid>
              <a:tr h="85947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dirty="0">
                          <a:effectLst/>
                        </a:rPr>
                        <a:t>Findings</a:t>
                      </a:r>
                      <a:endParaRPr lang="en-IN" sz="1600" b="1" dirty="0">
                        <a:effectLst/>
                      </a:endParaRPr>
                    </a:p>
                  </a:txBody>
                  <a:tcPr marL="63212" marR="63212" marT="31606" marB="31606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>
                          <a:effectLst/>
                        </a:rPr>
                        <a:t>Evidence</a:t>
                      </a:r>
                      <a:endParaRPr lang="en-IN" sz="1600" b="1">
                        <a:effectLst/>
                      </a:endParaRPr>
                    </a:p>
                  </a:txBody>
                  <a:tcPr marL="63212" marR="63212" marT="31606" marB="31606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>
                          <a:effectLst/>
                        </a:rPr>
                        <a:t>Risk</a:t>
                      </a:r>
                      <a:endParaRPr lang="en-IN" sz="1600" b="1">
                        <a:effectLst/>
                      </a:endParaRPr>
                    </a:p>
                  </a:txBody>
                  <a:tcPr marL="63212" marR="63212" marT="31606" marB="31606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>
                          <a:effectLst/>
                        </a:rPr>
                        <a:t>Potential Impact</a:t>
                      </a:r>
                      <a:endParaRPr lang="en-IN" sz="1600" b="1">
                        <a:effectLst/>
                      </a:endParaRPr>
                    </a:p>
                  </a:txBody>
                  <a:tcPr marL="63212" marR="63212" marT="31606" marB="31606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>
                          <a:effectLst/>
                        </a:rPr>
                        <a:t>Recommendation</a:t>
                      </a:r>
                      <a:endParaRPr lang="en-IN" sz="1600" b="1">
                        <a:effectLst/>
                      </a:endParaRPr>
                    </a:p>
                  </a:txBody>
                  <a:tcPr marL="63212" marR="63212" marT="31606" marB="31606" anchor="ctr"/>
                </a:tc>
                <a:extLst>
                  <a:ext uri="{0D108BD9-81ED-4DB2-BD59-A6C34878D82A}">
                    <a16:rowId xmlns:a16="http://schemas.microsoft.com/office/drawing/2014/main" val="3961658198"/>
                  </a:ext>
                </a:extLst>
              </a:tr>
              <a:tr h="99852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>
                          <a:effectLst/>
                        </a:rPr>
                        <a:t>MS17-010 / SMBv1 vulnerability </a:t>
                      </a:r>
                    </a:p>
                  </a:txBody>
                  <a:tcPr marL="63212" marR="63212" marT="31606" marB="31606" anchor="ctr"/>
                </a:tc>
                <a:tc>
                  <a:txBody>
                    <a:bodyPr/>
                    <a:lstStyle/>
                    <a:p>
                      <a:pPr algn="l" rtl="0">
                        <a:buNone/>
                      </a:pPr>
                      <a:r>
                        <a:rPr lang="en-IN" sz="1600">
                          <a:effectLst/>
                        </a:rPr>
                        <a:t>NSE smb-vuln-ms17-010, CVE-2017-0143 </a:t>
                      </a:r>
                    </a:p>
                  </a:txBody>
                  <a:tcPr marL="63212" marR="63212" marT="31606" marB="31606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>
                          <a:effectLst/>
                        </a:rPr>
                        <a:t>High </a:t>
                      </a:r>
                    </a:p>
                  </a:txBody>
                  <a:tcPr marL="63212" marR="63212" marT="31606" marB="31606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>
                          <a:effectLst/>
                        </a:rPr>
                        <a:t>Potential remote code execution </a:t>
                      </a:r>
                    </a:p>
                  </a:txBody>
                  <a:tcPr marL="63212" marR="63212" marT="31606" marB="31606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>
                          <a:effectLst/>
                        </a:rPr>
                        <a:t>Apply appropriate Windows security updates and disable SMBv1 if not required </a:t>
                      </a:r>
                    </a:p>
                  </a:txBody>
                  <a:tcPr marL="63212" marR="63212" marT="31606" marB="31606" anchor="ctr"/>
                </a:tc>
                <a:extLst>
                  <a:ext uri="{0D108BD9-81ED-4DB2-BD59-A6C34878D82A}">
                    <a16:rowId xmlns:a16="http://schemas.microsoft.com/office/drawing/2014/main" val="745497702"/>
                  </a:ext>
                </a:extLst>
              </a:tr>
              <a:tr h="85947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>
                          <a:effectLst/>
                        </a:rPr>
                        <a:t>SMB/Microsoft-DS exposed </a:t>
                      </a:r>
                    </a:p>
                  </a:txBody>
                  <a:tcPr marL="63212" marR="63212" marT="31606" marB="31606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>
                          <a:effectLst/>
                        </a:rPr>
                        <a:t>445/tcp open microsoft-ds </a:t>
                      </a:r>
                    </a:p>
                  </a:txBody>
                  <a:tcPr marL="63212" marR="63212" marT="31606" marB="31606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dirty="0">
                          <a:effectLst/>
                        </a:rPr>
                        <a:t>Medium </a:t>
                      </a:r>
                    </a:p>
                  </a:txBody>
                  <a:tcPr marL="63212" marR="63212" marT="31606" marB="31606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>
                          <a:effectLst/>
                        </a:rPr>
                        <a:t>Increased SMB attack surface </a:t>
                      </a:r>
                    </a:p>
                  </a:txBody>
                  <a:tcPr marL="63212" marR="63212" marT="31606" marB="31606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>
                          <a:effectLst/>
                        </a:rPr>
                        <a:t>Restrict access to trusted systems </a:t>
                      </a:r>
                    </a:p>
                  </a:txBody>
                  <a:tcPr marL="63212" marR="63212" marT="31606" marB="31606" anchor="ctr"/>
                </a:tc>
                <a:extLst>
                  <a:ext uri="{0D108BD9-81ED-4DB2-BD59-A6C34878D82A}">
                    <a16:rowId xmlns:a16="http://schemas.microsoft.com/office/drawing/2014/main" val="2095289757"/>
                  </a:ext>
                </a:extLst>
              </a:tr>
              <a:tr h="85947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>
                          <a:effectLst/>
                        </a:rPr>
                        <a:t>NetBIOS-SSN exposed </a:t>
                      </a:r>
                    </a:p>
                  </a:txBody>
                  <a:tcPr marL="63212" marR="63212" marT="31606" marB="31606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>
                          <a:effectLst/>
                        </a:rPr>
                        <a:t>139/tcp open netbios-ssn </a:t>
                      </a:r>
                    </a:p>
                  </a:txBody>
                  <a:tcPr marL="63212" marR="63212" marT="31606" marB="31606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>
                          <a:effectLst/>
                        </a:rPr>
                        <a:t>Medium </a:t>
                      </a:r>
                    </a:p>
                  </a:txBody>
                  <a:tcPr marL="63212" marR="63212" marT="31606" marB="31606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>
                          <a:effectLst/>
                        </a:rPr>
                        <a:t>Legacy service exposure </a:t>
                      </a:r>
                    </a:p>
                  </a:txBody>
                  <a:tcPr marL="63212" marR="63212" marT="31606" marB="31606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>
                          <a:effectLst/>
                        </a:rPr>
                        <a:t>Disable/restrict if unnecessary </a:t>
                      </a:r>
                    </a:p>
                  </a:txBody>
                  <a:tcPr marL="63212" marR="63212" marT="31606" marB="31606" anchor="ctr"/>
                </a:tc>
                <a:extLst>
                  <a:ext uri="{0D108BD9-81ED-4DB2-BD59-A6C34878D82A}">
                    <a16:rowId xmlns:a16="http://schemas.microsoft.com/office/drawing/2014/main" val="3709797814"/>
                  </a:ext>
                </a:extLst>
              </a:tr>
              <a:tr h="85947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>
                          <a:effectLst/>
                        </a:rPr>
                        <a:t>MSRPC exposed </a:t>
                      </a:r>
                    </a:p>
                  </a:txBody>
                  <a:tcPr marL="63212" marR="63212" marT="31606" marB="31606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>
                          <a:effectLst/>
                        </a:rPr>
                        <a:t>135/tcp open msrpc </a:t>
                      </a:r>
                    </a:p>
                  </a:txBody>
                  <a:tcPr marL="63212" marR="63212" marT="31606" marB="31606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>
                          <a:effectLst/>
                        </a:rPr>
                        <a:t>Medium </a:t>
                      </a:r>
                    </a:p>
                  </a:txBody>
                  <a:tcPr marL="63212" marR="63212" marT="31606" marB="31606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>
                          <a:effectLst/>
                        </a:rPr>
                        <a:t>Increased RPC attack surface </a:t>
                      </a:r>
                    </a:p>
                  </a:txBody>
                  <a:tcPr marL="63212" marR="63212" marT="31606" marB="31606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>
                          <a:effectLst/>
                        </a:rPr>
                        <a:t>Restrict RPC access </a:t>
                      </a:r>
                    </a:p>
                  </a:txBody>
                  <a:tcPr marL="63212" marR="63212" marT="31606" marB="31606" anchor="ctr"/>
                </a:tc>
                <a:extLst>
                  <a:ext uri="{0D108BD9-81ED-4DB2-BD59-A6C34878D82A}">
                    <a16:rowId xmlns:a16="http://schemas.microsoft.com/office/drawing/2014/main" val="468808797"/>
                  </a:ext>
                </a:extLst>
              </a:tr>
              <a:tr h="85947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>
                          <a:effectLst/>
                        </a:rPr>
                        <a:t>Multiple RPC ports exposed </a:t>
                      </a:r>
                    </a:p>
                  </a:txBody>
                  <a:tcPr marL="63212" marR="63212" marT="31606" marB="31606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>
                          <a:effectLst/>
                        </a:rPr>
                        <a:t>49152–49158/tcp open </a:t>
                      </a:r>
                    </a:p>
                  </a:txBody>
                  <a:tcPr marL="63212" marR="63212" marT="31606" marB="31606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>
                          <a:effectLst/>
                        </a:rPr>
                        <a:t>Medium </a:t>
                      </a:r>
                    </a:p>
                  </a:txBody>
                  <a:tcPr marL="63212" marR="63212" marT="31606" marB="31606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>
                          <a:effectLst/>
                        </a:rPr>
                        <a:t>Additional exposed services </a:t>
                      </a:r>
                    </a:p>
                  </a:txBody>
                  <a:tcPr marL="63212" marR="63212" marT="31606" marB="31606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dirty="0">
                          <a:effectLst/>
                        </a:rPr>
                        <a:t>Restrict unnecessary RPC traffic </a:t>
                      </a:r>
                    </a:p>
                  </a:txBody>
                  <a:tcPr marL="63212" marR="63212" marT="31606" marB="31606" anchor="ctr"/>
                </a:tc>
                <a:extLst>
                  <a:ext uri="{0D108BD9-81ED-4DB2-BD59-A6C34878D82A}">
                    <a16:rowId xmlns:a16="http://schemas.microsoft.com/office/drawing/2014/main" val="414511075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5400000">
            <a:off x="4000500" y="-4000500"/>
            <a:ext cx="10287000" cy="18288000"/>
          </a:xfrm>
          <a:custGeom>
            <a:avLst/>
            <a:gdLst/>
            <a:ahLst/>
            <a:cxnLst/>
            <a:rect l="l" t="t" r="r" b="b"/>
            <a:pathLst>
              <a:path w="10287000" h="18288000">
                <a:moveTo>
                  <a:pt x="0" y="18288000"/>
                </a:moveTo>
                <a:lnTo>
                  <a:pt x="0" y="0"/>
                </a:lnTo>
                <a:lnTo>
                  <a:pt x="10287000" y="0"/>
                </a:lnTo>
                <a:lnTo>
                  <a:pt x="10287000" y="18288000"/>
                </a:lnTo>
                <a:lnTo>
                  <a:pt x="0" y="18288000"/>
                </a:lnTo>
                <a:close/>
              </a:path>
            </a:pathLst>
          </a:custGeom>
          <a:blipFill>
            <a:blip r:embed="rId2"/>
            <a:stretch>
              <a:fillRect l="-12666" r="-12666"/>
            </a:stretch>
          </a:blipFill>
        </p:spPr>
      </p:sp>
      <p:sp>
        <p:nvSpPr>
          <p:cNvPr id="3" name="Freeform 3"/>
          <p:cNvSpPr/>
          <p:nvPr/>
        </p:nvSpPr>
        <p:spPr>
          <a:xfrm rot="-10800000">
            <a:off x="8572164" y="11127"/>
            <a:ext cx="9715836" cy="3983493"/>
          </a:xfrm>
          <a:custGeom>
            <a:avLst/>
            <a:gdLst/>
            <a:ahLst/>
            <a:cxnLst/>
            <a:rect l="l" t="t" r="r" b="b"/>
            <a:pathLst>
              <a:path w="9715836" h="3983493">
                <a:moveTo>
                  <a:pt x="0" y="0"/>
                </a:moveTo>
                <a:lnTo>
                  <a:pt x="9715836" y="0"/>
                </a:lnTo>
                <a:lnTo>
                  <a:pt x="9715836" y="3983492"/>
                </a:lnTo>
                <a:lnTo>
                  <a:pt x="0" y="3983492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4" name="Freeform 4"/>
          <p:cNvSpPr/>
          <p:nvPr/>
        </p:nvSpPr>
        <p:spPr>
          <a:xfrm>
            <a:off x="6651564" y="3543131"/>
            <a:ext cx="11156968" cy="5172104"/>
          </a:xfrm>
          <a:custGeom>
            <a:avLst/>
            <a:gdLst/>
            <a:ahLst/>
            <a:cxnLst/>
            <a:rect l="l" t="t" r="r" b="b"/>
            <a:pathLst>
              <a:path w="11156968" h="5172104">
                <a:moveTo>
                  <a:pt x="0" y="0"/>
                </a:moveTo>
                <a:lnTo>
                  <a:pt x="11156968" y="0"/>
                </a:lnTo>
                <a:lnTo>
                  <a:pt x="11156968" y="5172104"/>
                </a:lnTo>
                <a:lnTo>
                  <a:pt x="0" y="517210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</p:sp>
      <p:sp>
        <p:nvSpPr>
          <p:cNvPr id="5" name="TextBox 5"/>
          <p:cNvSpPr txBox="1"/>
          <p:nvPr/>
        </p:nvSpPr>
        <p:spPr>
          <a:xfrm>
            <a:off x="710834" y="436010"/>
            <a:ext cx="17097698" cy="19526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7703"/>
              </a:lnSpc>
            </a:pPr>
            <a:r>
              <a:rPr lang="en-US" sz="6419" spc="-545">
                <a:solidFill>
                  <a:srgbClr val="B6FBFF"/>
                </a:solidFill>
                <a:latin typeface="Mokoto"/>
                <a:ea typeface="Mokoto"/>
                <a:cs typeface="Mokoto"/>
                <a:sym typeface="Mokoto"/>
              </a:rPr>
              <a:t>TASK - 13 Security Hardening &amp; Before/After Testing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-1267908" y="3671087"/>
            <a:ext cx="10527591" cy="58039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759"/>
              </a:lnSpc>
            </a:pPr>
            <a:r>
              <a:rPr lang="en-US" sz="3399" b="1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BEFORE HARDENING :-&gt; 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000000">
                <a:alpha val="100000"/>
              </a:srgbClr>
            </a:gs>
            <a:gs pos="100000">
              <a:srgbClr val="3533CD">
                <a:alpha val="100000"/>
              </a:srgbClr>
            </a:gs>
          </a:gsLst>
          <a:lin ang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6855639" y="1192018"/>
            <a:ext cx="8622044" cy="3274795"/>
          </a:xfrm>
          <a:custGeom>
            <a:avLst/>
            <a:gdLst/>
            <a:ahLst/>
            <a:cxnLst/>
            <a:rect l="l" t="t" r="r" b="b"/>
            <a:pathLst>
              <a:path w="8622044" h="3274795">
                <a:moveTo>
                  <a:pt x="0" y="0"/>
                </a:moveTo>
                <a:lnTo>
                  <a:pt x="8622044" y="0"/>
                </a:lnTo>
                <a:lnTo>
                  <a:pt x="8622044" y="3274794"/>
                </a:lnTo>
                <a:lnTo>
                  <a:pt x="0" y="327479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Freeform 3"/>
          <p:cNvSpPr/>
          <p:nvPr/>
        </p:nvSpPr>
        <p:spPr>
          <a:xfrm>
            <a:off x="290940" y="5143500"/>
            <a:ext cx="7990709" cy="2776195"/>
          </a:xfrm>
          <a:custGeom>
            <a:avLst/>
            <a:gdLst/>
            <a:ahLst/>
            <a:cxnLst/>
            <a:rect l="l" t="t" r="r" b="b"/>
            <a:pathLst>
              <a:path w="7990709" h="2776195">
                <a:moveTo>
                  <a:pt x="0" y="0"/>
                </a:moveTo>
                <a:lnTo>
                  <a:pt x="7990708" y="0"/>
                </a:lnTo>
                <a:lnTo>
                  <a:pt x="7990708" y="2776195"/>
                </a:lnTo>
                <a:lnTo>
                  <a:pt x="0" y="277619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t="-3340" b="-3340"/>
            </a:stretch>
          </a:blipFill>
        </p:spPr>
      </p:sp>
      <p:sp>
        <p:nvSpPr>
          <p:cNvPr id="4" name="Freeform 4"/>
          <p:cNvSpPr/>
          <p:nvPr/>
        </p:nvSpPr>
        <p:spPr>
          <a:xfrm>
            <a:off x="8836826" y="4870368"/>
            <a:ext cx="8680474" cy="4387932"/>
          </a:xfrm>
          <a:custGeom>
            <a:avLst/>
            <a:gdLst/>
            <a:ahLst/>
            <a:cxnLst/>
            <a:rect l="l" t="t" r="r" b="b"/>
            <a:pathLst>
              <a:path w="8680474" h="4387932">
                <a:moveTo>
                  <a:pt x="0" y="0"/>
                </a:moveTo>
                <a:lnTo>
                  <a:pt x="8680474" y="0"/>
                </a:lnTo>
                <a:lnTo>
                  <a:pt x="8680474" y="4387932"/>
                </a:lnTo>
                <a:lnTo>
                  <a:pt x="0" y="438793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</p:sp>
      <p:sp>
        <p:nvSpPr>
          <p:cNvPr id="5" name="TextBox 5"/>
          <p:cNvSpPr txBox="1"/>
          <p:nvPr/>
        </p:nvSpPr>
        <p:spPr>
          <a:xfrm>
            <a:off x="1316791" y="1449567"/>
            <a:ext cx="4843701" cy="58039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759"/>
              </a:lnSpc>
            </a:pPr>
            <a:r>
              <a:rPr lang="en-US" sz="3399" b="1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AFTER HARDENING  :-&gt;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5400000">
            <a:off x="4000500" y="-4000500"/>
            <a:ext cx="10287000" cy="18288000"/>
          </a:xfrm>
          <a:custGeom>
            <a:avLst/>
            <a:gdLst/>
            <a:ahLst/>
            <a:cxnLst/>
            <a:rect l="l" t="t" r="r" b="b"/>
            <a:pathLst>
              <a:path w="10287000" h="18288000">
                <a:moveTo>
                  <a:pt x="0" y="18288000"/>
                </a:moveTo>
                <a:lnTo>
                  <a:pt x="0" y="0"/>
                </a:lnTo>
                <a:lnTo>
                  <a:pt x="10287000" y="0"/>
                </a:lnTo>
                <a:lnTo>
                  <a:pt x="10287000" y="18288000"/>
                </a:lnTo>
                <a:lnTo>
                  <a:pt x="0" y="18288000"/>
                </a:lnTo>
                <a:close/>
              </a:path>
            </a:pathLst>
          </a:custGeom>
          <a:blipFill>
            <a:blip r:embed="rId2"/>
            <a:stretch>
              <a:fillRect l="-12666" r="-12666"/>
            </a:stretch>
          </a:blipFill>
        </p:spPr>
      </p:sp>
      <p:sp>
        <p:nvSpPr>
          <p:cNvPr id="3" name="Freeform 3"/>
          <p:cNvSpPr/>
          <p:nvPr/>
        </p:nvSpPr>
        <p:spPr>
          <a:xfrm flipH="1" flipV="1">
            <a:off x="5076426" y="-177038"/>
            <a:ext cx="13414782" cy="5902504"/>
          </a:xfrm>
          <a:custGeom>
            <a:avLst/>
            <a:gdLst/>
            <a:ahLst/>
            <a:cxnLst/>
            <a:rect l="l" t="t" r="r" b="b"/>
            <a:pathLst>
              <a:path w="13414782" h="5902504">
                <a:moveTo>
                  <a:pt x="13414781" y="5902504"/>
                </a:moveTo>
                <a:lnTo>
                  <a:pt x="0" y="5902504"/>
                </a:lnTo>
                <a:lnTo>
                  <a:pt x="0" y="0"/>
                </a:lnTo>
                <a:lnTo>
                  <a:pt x="13414781" y="0"/>
                </a:lnTo>
                <a:lnTo>
                  <a:pt x="13414781" y="5902504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5" name="TextBox 5"/>
          <p:cNvSpPr txBox="1"/>
          <p:nvPr/>
        </p:nvSpPr>
        <p:spPr>
          <a:xfrm>
            <a:off x="0" y="914400"/>
            <a:ext cx="15617117" cy="183007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279"/>
              </a:lnSpc>
            </a:pPr>
            <a:r>
              <a:rPr lang="en-US" sz="5199">
                <a:solidFill>
                  <a:srgbClr val="B6FBFF"/>
                </a:solidFill>
                <a:latin typeface="Mokoto"/>
                <a:ea typeface="Mokoto"/>
                <a:cs typeface="Mokoto"/>
                <a:sym typeface="Mokoto"/>
              </a:rPr>
              <a:t>TASK - 14 Final Mini Security Assessment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0" y="2912194"/>
            <a:ext cx="17741328" cy="17293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712117" lvl="1" indent="-356058" algn="l">
              <a:lnSpc>
                <a:spcPts val="4617"/>
              </a:lnSpc>
              <a:buFont typeface="Arial"/>
              <a:buChar char="•"/>
            </a:pPr>
            <a:r>
              <a:rPr lang="en-US" sz="3298" b="1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The objective of the final assessment was to evaluate the security posture of the authorized Windows 7 test VM after network discovery, service enumeration, traffic analysis, vulnerability assessment, and security hardening.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0" y="5145076"/>
            <a:ext cx="16329008" cy="58039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734059" lvl="1" indent="-367030" algn="l">
              <a:lnSpc>
                <a:spcPts val="4759"/>
              </a:lnSpc>
              <a:buFont typeface="Arial"/>
              <a:buChar char="•"/>
            </a:pPr>
            <a:r>
              <a:rPr lang="en-US" sz="3399" b="1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BEFORE vs AFTER : </a:t>
            </a:r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29CEA2DD-E2F1-3CF1-FC09-61CEBA9A991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25276522"/>
              </p:ext>
            </p:extLst>
          </p:nvPr>
        </p:nvGraphicFramePr>
        <p:xfrm>
          <a:off x="3693758" y="6001900"/>
          <a:ext cx="9107841" cy="30278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035947">
                  <a:extLst>
                    <a:ext uri="{9D8B030D-6E8A-4147-A177-3AD203B41FA5}">
                      <a16:colId xmlns:a16="http://schemas.microsoft.com/office/drawing/2014/main" val="3003684276"/>
                    </a:ext>
                  </a:extLst>
                </a:gridCol>
                <a:gridCol w="3035947">
                  <a:extLst>
                    <a:ext uri="{9D8B030D-6E8A-4147-A177-3AD203B41FA5}">
                      <a16:colId xmlns:a16="http://schemas.microsoft.com/office/drawing/2014/main" val="911885343"/>
                    </a:ext>
                  </a:extLst>
                </a:gridCol>
                <a:gridCol w="3035947">
                  <a:extLst>
                    <a:ext uri="{9D8B030D-6E8A-4147-A177-3AD203B41FA5}">
                      <a16:colId xmlns:a16="http://schemas.microsoft.com/office/drawing/2014/main" val="1274999493"/>
                    </a:ext>
                  </a:extLst>
                </a:gridCol>
              </a:tblGrid>
              <a:tr h="75695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500">
                          <a:effectLst/>
                        </a:rPr>
                        <a:t>Port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500">
                          <a:effectLst/>
                        </a:rPr>
                        <a:t>Before Hardening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500">
                          <a:effectLst/>
                        </a:rPr>
                        <a:t>After Hardening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980847095"/>
                  </a:ext>
                </a:extLst>
              </a:tr>
              <a:tr h="75695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500">
                          <a:effectLst/>
                        </a:rPr>
                        <a:t>445/TCP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500">
                          <a:effectLst/>
                        </a:rPr>
                        <a:t>Open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500">
                          <a:effectLst/>
                        </a:rPr>
                        <a:t>Filtered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01848142"/>
                  </a:ext>
                </a:extLst>
              </a:tr>
              <a:tr h="75695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500">
                          <a:effectLst/>
                        </a:rPr>
                        <a:t>139/TCP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500">
                          <a:effectLst/>
                        </a:rPr>
                        <a:t>Open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500">
                          <a:effectLst/>
                        </a:rPr>
                        <a:t>Filtered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67424158"/>
                  </a:ext>
                </a:extLst>
              </a:tr>
              <a:tr h="75695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500">
                          <a:effectLst/>
                        </a:rPr>
                        <a:t>49152–49158/TCP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500">
                          <a:effectLst/>
                        </a:rPr>
                        <a:t>Open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500" dirty="0">
                          <a:effectLst/>
                        </a:rPr>
                        <a:t>Filtered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93868248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000000">
                <a:alpha val="100000"/>
              </a:srgbClr>
            </a:gs>
            <a:gs pos="100000">
              <a:srgbClr val="3533CD">
                <a:alpha val="100000"/>
              </a:srgbClr>
            </a:gs>
          </a:gsLst>
          <a:lin ang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1028700" y="962025"/>
            <a:ext cx="3180279" cy="58039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734059" lvl="1" indent="-367030" algn="l">
              <a:lnSpc>
                <a:spcPts val="4759"/>
              </a:lnSpc>
              <a:buFont typeface="Arial"/>
              <a:buChar char="•"/>
            </a:pPr>
            <a:r>
              <a:rPr lang="en-US" sz="3399" b="1">
                <a:solidFill>
                  <a:srgbClr val="B6FB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FINDINGS : 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1028700" y="2033649"/>
            <a:ext cx="17259300" cy="227347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539"/>
              </a:lnSpc>
            </a:pPr>
            <a:r>
              <a:rPr lang="en-US" sz="3242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The assessment identified exposed SMB, NetBIOS and dynamic RPC services on the Windows 7 test VM. Nmap vulnerability scanning also reported a potential MS17-010-related SMB vulnerability. Wireshark was used to analyze authorized lab traffic, including DNS and TCP traffic.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783610" y="4563110"/>
            <a:ext cx="6552009" cy="58039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734059" lvl="1" indent="-367030" algn="l">
              <a:lnSpc>
                <a:spcPts val="4759"/>
              </a:lnSpc>
              <a:buFont typeface="Arial"/>
              <a:buChar char="•"/>
            </a:pPr>
            <a:r>
              <a:rPr lang="en-US" sz="3399" b="1">
                <a:solidFill>
                  <a:srgbClr val="B6FB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FINAL RECOMENDATIONS : 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2034959" y="5638800"/>
            <a:ext cx="14504249" cy="41808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734059" lvl="1" indent="-367030" algn="l">
              <a:lnSpc>
                <a:spcPts val="4759"/>
              </a:lnSpc>
              <a:buFont typeface="Arial"/>
              <a:buChar char="•"/>
            </a:pPr>
            <a:r>
              <a:rPr lang="en-US" sz="3399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Keep Windows Firewall enabled.</a:t>
            </a:r>
          </a:p>
          <a:p>
            <a:pPr marL="734059" lvl="1" indent="-367030" algn="l">
              <a:lnSpc>
                <a:spcPts val="4759"/>
              </a:lnSpc>
              <a:buFont typeface="Arial"/>
              <a:buChar char="•"/>
            </a:pPr>
            <a:r>
              <a:rPr lang="en-US" sz="3399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Restrict unnecessary inbound ports.</a:t>
            </a:r>
          </a:p>
          <a:p>
            <a:pPr marL="734059" lvl="1" indent="-367030" algn="l">
              <a:lnSpc>
                <a:spcPts val="4759"/>
              </a:lnSpc>
              <a:buFont typeface="Arial"/>
              <a:buChar char="•"/>
            </a:pPr>
            <a:r>
              <a:rPr lang="en-US" sz="3399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Reduce unnecessary SMB and NetBIOS exposure.</a:t>
            </a:r>
          </a:p>
          <a:p>
            <a:pPr marL="734059" lvl="1" indent="-367030" algn="l">
              <a:lnSpc>
                <a:spcPts val="4759"/>
              </a:lnSpc>
              <a:buFont typeface="Arial"/>
              <a:buChar char="•"/>
            </a:pPr>
            <a:r>
              <a:rPr lang="en-US" sz="3399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Keep the operating system updated.</a:t>
            </a:r>
          </a:p>
          <a:p>
            <a:pPr marL="734059" lvl="1" indent="-367030" algn="l">
              <a:lnSpc>
                <a:spcPts val="4759"/>
              </a:lnSpc>
              <a:buFont typeface="Arial"/>
              <a:buChar char="•"/>
            </a:pPr>
            <a:r>
              <a:rPr lang="en-US" sz="3399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Monitor network traffic for unusual activity.</a:t>
            </a:r>
          </a:p>
          <a:p>
            <a:pPr marL="734059" lvl="1" indent="-367030" algn="l">
              <a:lnSpc>
                <a:spcPts val="4759"/>
              </a:lnSpc>
              <a:buFont typeface="Arial"/>
              <a:buChar char="•"/>
            </a:pPr>
            <a:r>
              <a:rPr lang="en-US" sz="3399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Perform regular authorized security assessments.</a:t>
            </a:r>
          </a:p>
          <a:p>
            <a:pPr algn="l">
              <a:lnSpc>
                <a:spcPts val="4759"/>
              </a:lnSpc>
            </a:pPr>
            <a:endParaRPr lang="en-US" sz="3399">
              <a:solidFill>
                <a:srgbClr val="FFFFFF"/>
              </a:solidFill>
              <a:latin typeface="Canva Sans"/>
              <a:ea typeface="Canva Sans"/>
              <a:cs typeface="Canva Sans"/>
              <a:sym typeface="Canva Sans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000000">
                <a:alpha val="100000"/>
              </a:srgbClr>
            </a:gs>
            <a:gs pos="100000">
              <a:srgbClr val="3533CD">
                <a:alpha val="100000"/>
              </a:srgbClr>
            </a:gs>
          </a:gsLst>
          <a:lin ang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1350386" y="933450"/>
            <a:ext cx="4967288" cy="88709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279"/>
              </a:lnSpc>
            </a:pPr>
            <a:r>
              <a:rPr lang="en-US" sz="5199" b="1">
                <a:solidFill>
                  <a:srgbClr val="B6FB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CONCLUSION : 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1028700" y="2276269"/>
            <a:ext cx="16666392" cy="41808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759"/>
              </a:lnSpc>
            </a:pPr>
            <a:r>
              <a:rPr lang="en-US" sz="3399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 This Week 3 assessment carried a full offensive-to-defensive workflow: identifying the target, enumerating services with Nmap, validating behavior at the packet level with Wireshark, correlating scan traffic to captured packets, and translating findings into concrete hardening actions.</a:t>
            </a:r>
          </a:p>
          <a:p>
            <a:pPr algn="l">
              <a:lnSpc>
                <a:spcPts val="4759"/>
              </a:lnSpc>
            </a:pPr>
            <a:r>
              <a:rPr lang="en-US" sz="3399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Overall, the assessment strengthened practical skills across reconnaissance, traffic analysis, and defensive hardening within a safe, authorized lab environment.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5400000">
            <a:off x="4000500" y="-4000500"/>
            <a:ext cx="10287000" cy="18288000"/>
          </a:xfrm>
          <a:custGeom>
            <a:avLst/>
            <a:gdLst/>
            <a:ahLst/>
            <a:cxnLst/>
            <a:rect l="l" t="t" r="r" b="b"/>
            <a:pathLst>
              <a:path w="10287000" h="18288000">
                <a:moveTo>
                  <a:pt x="0" y="18288000"/>
                </a:moveTo>
                <a:lnTo>
                  <a:pt x="0" y="0"/>
                </a:lnTo>
                <a:lnTo>
                  <a:pt x="10287000" y="0"/>
                </a:lnTo>
                <a:lnTo>
                  <a:pt x="10287000" y="18288000"/>
                </a:lnTo>
                <a:lnTo>
                  <a:pt x="0" y="18288000"/>
                </a:lnTo>
                <a:close/>
              </a:path>
            </a:pathLst>
          </a:custGeom>
          <a:blipFill>
            <a:blip r:embed="rId2"/>
            <a:stretch>
              <a:fillRect l="-12666" r="-12666"/>
            </a:stretch>
          </a:blipFill>
        </p:spPr>
      </p:sp>
      <p:sp>
        <p:nvSpPr>
          <p:cNvPr id="3" name="Freeform 3"/>
          <p:cNvSpPr/>
          <p:nvPr/>
        </p:nvSpPr>
        <p:spPr>
          <a:xfrm flipV="1">
            <a:off x="-259982" y="-265963"/>
            <a:ext cx="9715836" cy="3983493"/>
          </a:xfrm>
          <a:custGeom>
            <a:avLst/>
            <a:gdLst/>
            <a:ahLst/>
            <a:cxnLst/>
            <a:rect l="l" t="t" r="r" b="b"/>
            <a:pathLst>
              <a:path w="9715836" h="3983493">
                <a:moveTo>
                  <a:pt x="0" y="3983493"/>
                </a:moveTo>
                <a:lnTo>
                  <a:pt x="9715836" y="3983493"/>
                </a:lnTo>
                <a:lnTo>
                  <a:pt x="9715836" y="0"/>
                </a:lnTo>
                <a:lnTo>
                  <a:pt x="0" y="0"/>
                </a:lnTo>
                <a:lnTo>
                  <a:pt x="0" y="3983493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4" name="Freeform 4"/>
          <p:cNvSpPr/>
          <p:nvPr/>
        </p:nvSpPr>
        <p:spPr>
          <a:xfrm flipH="1">
            <a:off x="8845486" y="6607652"/>
            <a:ext cx="9715836" cy="3983493"/>
          </a:xfrm>
          <a:custGeom>
            <a:avLst/>
            <a:gdLst/>
            <a:ahLst/>
            <a:cxnLst/>
            <a:rect l="l" t="t" r="r" b="b"/>
            <a:pathLst>
              <a:path w="9715836" h="3983493">
                <a:moveTo>
                  <a:pt x="9715836" y="0"/>
                </a:moveTo>
                <a:lnTo>
                  <a:pt x="0" y="0"/>
                </a:lnTo>
                <a:lnTo>
                  <a:pt x="0" y="3983492"/>
                </a:lnTo>
                <a:lnTo>
                  <a:pt x="9715836" y="3983492"/>
                </a:lnTo>
                <a:lnTo>
                  <a:pt x="9715836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5" name="TextBox 5"/>
          <p:cNvSpPr txBox="1"/>
          <p:nvPr/>
        </p:nvSpPr>
        <p:spPr>
          <a:xfrm>
            <a:off x="2767444" y="4624387"/>
            <a:ext cx="12753112" cy="10382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183"/>
              </a:lnSpc>
            </a:pPr>
            <a:r>
              <a:rPr lang="en-US" sz="6819" spc="-68">
                <a:solidFill>
                  <a:srgbClr val="B6FBFF"/>
                </a:solidFill>
                <a:latin typeface="Mokoto"/>
                <a:ea typeface="Mokoto"/>
                <a:cs typeface="Mokoto"/>
                <a:sym typeface="Mokoto"/>
              </a:rPr>
              <a:t>THANK YOU</a:t>
            </a:r>
          </a:p>
        </p:txBody>
      </p:sp>
      <p:sp>
        <p:nvSpPr>
          <p:cNvPr id="6" name="Freeform 6"/>
          <p:cNvSpPr/>
          <p:nvPr/>
        </p:nvSpPr>
        <p:spPr>
          <a:xfrm>
            <a:off x="5813868" y="3717530"/>
            <a:ext cx="6660264" cy="2597503"/>
          </a:xfrm>
          <a:custGeom>
            <a:avLst/>
            <a:gdLst/>
            <a:ahLst/>
            <a:cxnLst/>
            <a:rect l="l" t="t" r="r" b="b"/>
            <a:pathLst>
              <a:path w="6660264" h="2597503">
                <a:moveTo>
                  <a:pt x="0" y="0"/>
                </a:moveTo>
                <a:lnTo>
                  <a:pt x="6660264" y="0"/>
                </a:lnTo>
                <a:lnTo>
                  <a:pt x="6660264" y="2597503"/>
                </a:lnTo>
                <a:lnTo>
                  <a:pt x="0" y="2597503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20</TotalTime>
  <Words>980</Words>
  <Application>Microsoft Office PowerPoint</Application>
  <PresentationFormat>Custom</PresentationFormat>
  <Paragraphs>172</Paragraphs>
  <Slides>23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33" baseType="lpstr">
      <vt:lpstr>Canva Sans</vt:lpstr>
      <vt:lpstr>Calibri</vt:lpstr>
      <vt:lpstr>Poppins Bold</vt:lpstr>
      <vt:lpstr>Arial</vt:lpstr>
      <vt:lpstr>Montserrat</vt:lpstr>
      <vt:lpstr>Canva Sans Bold</vt:lpstr>
      <vt:lpstr>Mokoto</vt:lpstr>
      <vt:lpstr>Poppins</vt:lpstr>
      <vt:lpstr>Montserrat Bold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WEEK - 3 ASSIGNMENT</dc:title>
  <cp:lastModifiedBy>Sai Amulya</cp:lastModifiedBy>
  <cp:revision>4</cp:revision>
  <dcterms:created xsi:type="dcterms:W3CDTF">2006-08-16T00:00:00Z</dcterms:created>
  <dcterms:modified xsi:type="dcterms:W3CDTF">2026-09-21T17:59:46Z</dcterms:modified>
  <dc:identifier>DAHVKHyVnzI</dc:identifier>
</cp:coreProperties>
</file>