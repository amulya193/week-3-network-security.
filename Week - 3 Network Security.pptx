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anva Sans" panose="020B0604020202020204" charset="0"/>
      <p:regular r:id="rId25"/>
    </p:embeddedFont>
    <p:embeddedFont>
      <p:font typeface="Canva Sans Bold" panose="020B0604020202020204" charset="0"/>
      <p:regular r:id="rId26"/>
    </p:embeddedFont>
    <p:embeddedFont>
      <p:font typeface="Mokoto" panose="020B0604020202020204" charset="0"/>
      <p:regular r:id="rId27"/>
    </p:embeddedFont>
    <p:embeddedFont>
      <p:font typeface="Montserrat" panose="00000500000000000000" pitchFamily="2" charset="0"/>
      <p:regular r:id="rId28"/>
    </p:embeddedFont>
    <p:embeddedFont>
      <p:font typeface="Montserrat Bold" panose="00000800000000000000" charset="0"/>
      <p:regular r:id="rId29"/>
    </p:embeddedFont>
    <p:embeddedFont>
      <p:font typeface="Poppins" panose="00000500000000000000" pitchFamily="2" charset="0"/>
      <p:regular r:id="rId30"/>
    </p:embeddedFont>
    <p:embeddedFont>
      <p:font typeface="Poppins Bold" panose="00000800000000000000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map.org/book/nse.html" TargetMode="External"/><Relationship Id="rId2" Type="http://schemas.openxmlformats.org/officeDocument/2006/relationships/hyperlink" Target="https://nmap.org/book/man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ttack.mitre.org/" TargetMode="External"/><Relationship Id="rId5" Type="http://schemas.openxmlformats.org/officeDocument/2006/relationships/hyperlink" Target="https://cve.mitre.org/" TargetMode="External"/><Relationship Id="rId4" Type="http://schemas.openxmlformats.org/officeDocument/2006/relationships/hyperlink" Target="https://www.wireshark.org/docs/wsug_html_chunked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922424"/>
            <a:ext cx="10158693" cy="6704738"/>
          </a:xfrm>
          <a:custGeom>
            <a:avLst/>
            <a:gdLst/>
            <a:ahLst/>
            <a:cxnLst/>
            <a:rect l="l" t="t" r="r" b="b"/>
            <a:pathLst>
              <a:path w="10158693" h="6704738">
                <a:moveTo>
                  <a:pt x="0" y="0"/>
                </a:moveTo>
                <a:lnTo>
                  <a:pt x="10158693" y="0"/>
                </a:lnTo>
                <a:lnTo>
                  <a:pt x="10158693" y="6704737"/>
                </a:lnTo>
                <a:lnTo>
                  <a:pt x="0" y="6704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963559" y="873267"/>
            <a:ext cx="8259257" cy="8385033"/>
          </a:xfrm>
          <a:custGeom>
            <a:avLst/>
            <a:gdLst/>
            <a:ahLst/>
            <a:cxnLst/>
            <a:rect l="l" t="t" r="r" b="b"/>
            <a:pathLst>
              <a:path w="8259257" h="8385033">
                <a:moveTo>
                  <a:pt x="0" y="0"/>
                </a:moveTo>
                <a:lnTo>
                  <a:pt x="8259257" y="0"/>
                </a:lnTo>
                <a:lnTo>
                  <a:pt x="8259257" y="8385033"/>
                </a:lnTo>
                <a:lnTo>
                  <a:pt x="0" y="83850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90579" y="3121656"/>
            <a:ext cx="8180698" cy="3190472"/>
          </a:xfrm>
          <a:custGeom>
            <a:avLst/>
            <a:gdLst/>
            <a:ahLst/>
            <a:cxnLst/>
            <a:rect l="l" t="t" r="r" b="b"/>
            <a:pathLst>
              <a:path w="8180698" h="3190472">
                <a:moveTo>
                  <a:pt x="0" y="0"/>
                </a:moveTo>
                <a:lnTo>
                  <a:pt x="8180698" y="0"/>
                </a:lnTo>
                <a:lnTo>
                  <a:pt x="8180698" y="3190473"/>
                </a:lnTo>
                <a:lnTo>
                  <a:pt x="0" y="31904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0582" y="590550"/>
            <a:ext cx="11452977" cy="223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43"/>
              </a:lnSpc>
            </a:pPr>
            <a:r>
              <a:rPr lang="en-US" sz="7369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WEEK - 3 ASSIGNMENT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0805" y="3312728"/>
            <a:ext cx="9668458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0"/>
              </a:lnSpc>
              <a:spcBef>
                <a:spcPct val="0"/>
              </a:spcBef>
            </a:pPr>
            <a:r>
              <a:rPr lang="en-US" sz="6558" b="1">
                <a:solidFill>
                  <a:srgbClr val="B6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NETWORK SECURITY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3544" y="6635979"/>
            <a:ext cx="719494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B6FBFF"/>
                </a:solidFill>
                <a:latin typeface="Montserrat"/>
                <a:ea typeface="Montserrat"/>
                <a:cs typeface="Montserrat"/>
                <a:sym typeface="Montserrat"/>
              </a:rPr>
              <a:t>Name : B SAI AMULYA GOUD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B6FBFF"/>
                </a:solidFill>
                <a:latin typeface="Montserrat"/>
                <a:ea typeface="Montserrat"/>
                <a:cs typeface="Montserrat"/>
                <a:sym typeface="Montserrat"/>
              </a:rPr>
              <a:t>SIN :  DG/SEPTEMBER/CYBER/179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3398770" y="3639307"/>
            <a:ext cx="15108394" cy="6647693"/>
          </a:xfrm>
          <a:custGeom>
            <a:avLst/>
            <a:gdLst/>
            <a:ahLst/>
            <a:cxnLst/>
            <a:rect l="l" t="t" r="r" b="b"/>
            <a:pathLst>
              <a:path w="15108394" h="6647693">
                <a:moveTo>
                  <a:pt x="15108393" y="0"/>
                </a:moveTo>
                <a:lnTo>
                  <a:pt x="0" y="0"/>
                </a:lnTo>
                <a:lnTo>
                  <a:pt x="0" y="6647693"/>
                </a:lnTo>
                <a:lnTo>
                  <a:pt x="15108393" y="6647693"/>
                </a:lnTo>
                <a:lnTo>
                  <a:pt x="151083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64809" y="1407052"/>
            <a:ext cx="749538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3"/>
              </a:lnSpc>
            </a:pPr>
            <a:r>
              <a:rPr lang="en-US" sz="6819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165161" y="5514089"/>
            <a:ext cx="2523494" cy="606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2"/>
              </a:lnSpc>
            </a:pPr>
            <a:r>
              <a:rPr lang="en-US" sz="2260" b="1">
                <a:solidFill>
                  <a:srgbClr val="0F034F"/>
                </a:solidFill>
                <a:latin typeface="Poppins Bold"/>
                <a:ea typeface="Poppins Bold"/>
                <a:cs typeface="Poppins Bold"/>
                <a:sym typeface="Poppins Bold"/>
              </a:rPr>
              <a:t>Vulnerability Assessment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2777796"/>
            <a:ext cx="18288000" cy="638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perform network discovery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using Nmap and identify active hosts within the lab network.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identify open ports and services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running on the Windows 7 test VM using Nmap scanning techniques.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capture and analyze network traffic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using Wireshark and study protocols such as DNS, TCP, UDP, ARP, and ICMP.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correlate Nmap results with Wireshark traffic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and understand how network scanning generates TCP packets such as SYN, SYN/ACK, and RST.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Apply at least three concrete hardening measures and verify the resulting reduction in attack surface. 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• Produce a professional, evidence-backed security assessment and a set of actionable recommendations.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21489" y="895350"/>
            <a:ext cx="12562636" cy="116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Lab Architecture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79A729-5BFE-EF1C-6FE3-BB805D357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651939"/>
              </p:ext>
            </p:extLst>
          </p:nvPr>
        </p:nvGraphicFramePr>
        <p:xfrm>
          <a:off x="838200" y="2705100"/>
          <a:ext cx="15621000" cy="6686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7000">
                  <a:extLst>
                    <a:ext uri="{9D8B030D-6E8A-4147-A177-3AD203B41FA5}">
                      <a16:colId xmlns:a16="http://schemas.microsoft.com/office/drawing/2014/main" val="4287406703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2738397035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1517604768"/>
                    </a:ext>
                  </a:extLst>
                </a:gridCol>
              </a:tblGrid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Component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Configuration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Purpose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3138684493"/>
                  </a:ext>
                </a:extLst>
              </a:tr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Kali Linux VM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10.0.2.4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Security testing and scanning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1178177726"/>
                  </a:ext>
                </a:extLst>
              </a:tr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Windows 7 VM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10.0.2.3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Authorized target system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2676050254"/>
                  </a:ext>
                </a:extLst>
              </a:tr>
              <a:tr h="1939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VirtualBox NAT Gateway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10.0.2.1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Network connectivity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3366119365"/>
                  </a:ext>
                </a:extLst>
              </a:tr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Lab Network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10.0.2.0/24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Connects the virtual machines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383635905"/>
                  </a:ext>
                </a:extLst>
              </a:tr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Wireshark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Kali Linux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Network traffic capture and analysis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1960062956"/>
                  </a:ext>
                </a:extLst>
              </a:tr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Nmap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Kali Linux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Network and vulnerability assessment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4066829092"/>
                  </a:ext>
                </a:extLst>
              </a:tr>
              <a:tr h="678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Windows Firewall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Windows 7</a:t>
                      </a:r>
                    </a:p>
                  </a:txBody>
                  <a:tcPr marL="78034" marR="78034" marT="39017" marB="390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Security hardening</a:t>
                      </a:r>
                    </a:p>
                  </a:txBody>
                  <a:tcPr marL="78034" marR="78034" marT="39017" marB="39017" anchor="ctr"/>
                </a:tc>
                <a:extLst>
                  <a:ext uri="{0D108BD9-81ED-4DB2-BD59-A6C34878D82A}">
                    <a16:rowId xmlns:a16="http://schemas.microsoft.com/office/drawing/2014/main" val="16709504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381635"/>
            <a:ext cx="7411284" cy="11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Tools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9890D6-8456-F5DB-93BF-43F666118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376419"/>
              </p:ext>
            </p:extLst>
          </p:nvPr>
        </p:nvGraphicFramePr>
        <p:xfrm>
          <a:off x="1600200" y="2095500"/>
          <a:ext cx="14630400" cy="723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327067326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858218192"/>
                    </a:ext>
                  </a:extLst>
                </a:gridCol>
              </a:tblGrid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Tool</a:t>
                      </a: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Purpose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2103865031"/>
                  </a:ext>
                </a:extLst>
              </a:tr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Kali Linux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Security testing and assessment environment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3963701304"/>
                  </a:ext>
                </a:extLst>
              </a:tr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Windows 7 VM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Authorized target/test system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17245533"/>
                  </a:ext>
                </a:extLst>
              </a:tr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VirtualBox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Created and managed the virtual lab environment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1214109499"/>
                  </a:ext>
                </a:extLst>
              </a:tr>
              <a:tr h="103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Nmap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Host discovery, port scanning, service/version detection, OS detection and vulnerability assessment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2745723229"/>
                  </a:ext>
                </a:extLst>
              </a:tr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Wireshark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Network traffic capture and packet analysis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2375251330"/>
                  </a:ext>
                </a:extLst>
              </a:tr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Windows Firewall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Applied security hardening and restricted inbound ports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821867460"/>
                  </a:ext>
                </a:extLst>
              </a:tr>
              <a:tr h="885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diagrams.net (draw.io)</a:t>
                      </a:r>
                      <a:endParaRPr lang="en-IN" sz="1300" b="1">
                        <a:effectLst/>
                      </a:endParaRPr>
                    </a:p>
                  </a:txBody>
                  <a:tcPr marL="76388" marR="76388" marT="38194" marB="38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Created the network topology diagram</a:t>
                      </a:r>
                    </a:p>
                  </a:txBody>
                  <a:tcPr marL="76388" marR="76388" marT="38194" marB="38194" anchor="ctr"/>
                </a:tc>
                <a:extLst>
                  <a:ext uri="{0D108BD9-81ED-4DB2-BD59-A6C34878D82A}">
                    <a16:rowId xmlns:a16="http://schemas.microsoft.com/office/drawing/2014/main" val="687494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537979" y="15977"/>
            <a:ext cx="8516587" cy="3491801"/>
          </a:xfrm>
          <a:custGeom>
            <a:avLst/>
            <a:gdLst/>
            <a:ahLst/>
            <a:cxnLst/>
            <a:rect l="l" t="t" r="r" b="b"/>
            <a:pathLst>
              <a:path w="8516587" h="3491801">
                <a:moveTo>
                  <a:pt x="0" y="3491801"/>
                </a:moveTo>
                <a:lnTo>
                  <a:pt x="8516587" y="3491801"/>
                </a:lnTo>
                <a:lnTo>
                  <a:pt x="8516587" y="0"/>
                </a:lnTo>
                <a:lnTo>
                  <a:pt x="0" y="0"/>
                </a:lnTo>
                <a:lnTo>
                  <a:pt x="0" y="34918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8845486" y="6607652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9715836" y="0"/>
                </a:moveTo>
                <a:lnTo>
                  <a:pt x="0" y="0"/>
                </a:lnTo>
                <a:lnTo>
                  <a:pt x="0" y="3983492"/>
                </a:lnTo>
                <a:lnTo>
                  <a:pt x="9715836" y="3983492"/>
                </a:lnTo>
                <a:lnTo>
                  <a:pt x="97158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2690" y="6019080"/>
            <a:ext cx="9871450" cy="3239220"/>
          </a:xfrm>
          <a:custGeom>
            <a:avLst/>
            <a:gdLst/>
            <a:ahLst/>
            <a:cxnLst/>
            <a:rect l="l" t="t" r="r" b="b"/>
            <a:pathLst>
              <a:path w="9871450" h="3239220">
                <a:moveTo>
                  <a:pt x="0" y="0"/>
                </a:moveTo>
                <a:lnTo>
                  <a:pt x="9871449" y="0"/>
                </a:lnTo>
                <a:lnTo>
                  <a:pt x="9871449" y="3239220"/>
                </a:lnTo>
                <a:lnTo>
                  <a:pt x="0" y="3239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304923" y="4568629"/>
            <a:ext cx="7520053" cy="4689671"/>
          </a:xfrm>
          <a:custGeom>
            <a:avLst/>
            <a:gdLst/>
            <a:ahLst/>
            <a:cxnLst/>
            <a:rect l="l" t="t" r="r" b="b"/>
            <a:pathLst>
              <a:path w="7520053" h="4689671">
                <a:moveTo>
                  <a:pt x="0" y="0"/>
                </a:moveTo>
                <a:lnTo>
                  <a:pt x="7520054" y="0"/>
                </a:lnTo>
                <a:lnTo>
                  <a:pt x="7520054" y="4689671"/>
                </a:lnTo>
                <a:lnTo>
                  <a:pt x="0" y="468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95274" y="975974"/>
            <a:ext cx="16982559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97"/>
              </a:lnSpc>
            </a:pPr>
            <a:r>
              <a:rPr lang="en-US" sz="4497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Network Discovery&amp;Basic</a:t>
            </a:r>
          </a:p>
          <a:p>
            <a:pPr algn="r">
              <a:lnSpc>
                <a:spcPts val="5397"/>
              </a:lnSpc>
            </a:pPr>
            <a:r>
              <a:rPr lang="en-US" sz="4497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 Nmap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1799" y="737949"/>
            <a:ext cx="4021628" cy="1052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 b="1" dirty="0">
                <a:solidFill>
                  <a:srgbClr val="B6F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 - 7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2690" y="2261849"/>
            <a:ext cx="1723514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Network discovery is the process of identifying active devices within a network. It helps a security professional understand which hosts are reachable and which systems may need further security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02806" y="585750"/>
            <a:ext cx="11394374" cy="4557750"/>
          </a:xfrm>
          <a:custGeom>
            <a:avLst/>
            <a:gdLst/>
            <a:ahLst/>
            <a:cxnLst/>
            <a:rect l="l" t="t" r="r" b="b"/>
            <a:pathLst>
              <a:path w="11394374" h="4557750">
                <a:moveTo>
                  <a:pt x="0" y="0"/>
                </a:moveTo>
                <a:lnTo>
                  <a:pt x="11394374" y="0"/>
                </a:lnTo>
                <a:lnTo>
                  <a:pt x="11394374" y="4557750"/>
                </a:lnTo>
                <a:lnTo>
                  <a:pt x="0" y="455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12667" y="5384631"/>
            <a:ext cx="7299139" cy="4566641"/>
          </a:xfrm>
          <a:custGeom>
            <a:avLst/>
            <a:gdLst/>
            <a:ahLst/>
            <a:cxnLst/>
            <a:rect l="l" t="t" r="r" b="b"/>
            <a:pathLst>
              <a:path w="7299139" h="4566641">
                <a:moveTo>
                  <a:pt x="0" y="0"/>
                </a:moveTo>
                <a:lnTo>
                  <a:pt x="7299139" y="0"/>
                </a:lnTo>
                <a:lnTo>
                  <a:pt x="7299139" y="4566641"/>
                </a:lnTo>
                <a:lnTo>
                  <a:pt x="0" y="4566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565073" y="-177038"/>
            <a:ext cx="6926135" cy="3047499"/>
          </a:xfrm>
          <a:custGeom>
            <a:avLst/>
            <a:gdLst/>
            <a:ahLst/>
            <a:cxnLst/>
            <a:rect l="l" t="t" r="r" b="b"/>
            <a:pathLst>
              <a:path w="6926135" h="3047499">
                <a:moveTo>
                  <a:pt x="6926134" y="3047500"/>
                </a:moveTo>
                <a:lnTo>
                  <a:pt x="0" y="3047500"/>
                </a:lnTo>
                <a:lnTo>
                  <a:pt x="0" y="0"/>
                </a:lnTo>
                <a:lnTo>
                  <a:pt x="6926134" y="0"/>
                </a:lnTo>
                <a:lnTo>
                  <a:pt x="6926134" y="30475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13655" y="4305326"/>
            <a:ext cx="9882290" cy="5659299"/>
          </a:xfrm>
          <a:custGeom>
            <a:avLst/>
            <a:gdLst/>
            <a:ahLst/>
            <a:cxnLst/>
            <a:rect l="l" t="t" r="r" b="b"/>
            <a:pathLst>
              <a:path w="9882290" h="5659299">
                <a:moveTo>
                  <a:pt x="0" y="0"/>
                </a:moveTo>
                <a:lnTo>
                  <a:pt x="9882290" y="0"/>
                </a:lnTo>
                <a:lnTo>
                  <a:pt x="9882290" y="5659299"/>
                </a:lnTo>
                <a:lnTo>
                  <a:pt x="0" y="5659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6595" y="498987"/>
            <a:ext cx="16210960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4"/>
              </a:lnSpc>
            </a:pPr>
            <a:r>
              <a:rPr lang="en-US" sz="5520" spc="-55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- 8 Advanced Nmap Security Assessment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5753" y="2592831"/>
            <a:ext cx="16228173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53"/>
              </a:lnSpc>
            </a:pPr>
            <a:r>
              <a:rPr lang="en-US" sz="246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 and Version Detection : nmap -sV 10.0.2.3 </a:t>
            </a:r>
            <a:r>
              <a:rPr lang="en-US" sz="24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-sV option attempts to determine the service and version associated with open ports.</a:t>
            </a:r>
            <a:r>
              <a:rPr lang="en-US" sz="246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just">
              <a:lnSpc>
                <a:spcPts val="2953"/>
              </a:lnSpc>
              <a:spcBef>
                <a:spcPct val="0"/>
              </a:spcBef>
            </a:pPr>
            <a:endParaRPr lang="en-US" sz="246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53193" y="2963117"/>
            <a:ext cx="1050031" cy="36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</a:pPr>
            <a:r>
              <a:rPr lang="en-US" sz="2459" b="1">
                <a:solidFill>
                  <a:srgbClr val="0F034F"/>
                </a:solidFill>
                <a:latin typeface="Poppins Bold"/>
                <a:ea typeface="Poppins Bold"/>
                <a:cs typeface="Poppins Bold"/>
                <a:sym typeface="Poppins Bold"/>
              </a:rPr>
              <a:t>88%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84777" y="4734909"/>
            <a:ext cx="1050031" cy="36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</a:pPr>
            <a:r>
              <a:rPr lang="en-US" sz="2459" b="1">
                <a:solidFill>
                  <a:srgbClr val="0F034F"/>
                </a:solidFill>
                <a:latin typeface="Poppins Bold"/>
                <a:ea typeface="Poppins Bold"/>
                <a:cs typeface="Poppins Bold"/>
                <a:sym typeface="Poppins Bold"/>
              </a:rPr>
              <a:t>52%</a:t>
            </a:r>
          </a:p>
        </p:txBody>
      </p:sp>
      <p:sp>
        <p:nvSpPr>
          <p:cNvPr id="5" name="Freeform 5"/>
          <p:cNvSpPr/>
          <p:nvPr/>
        </p:nvSpPr>
        <p:spPr>
          <a:xfrm>
            <a:off x="9020653" y="939035"/>
            <a:ext cx="8528247" cy="4048164"/>
          </a:xfrm>
          <a:custGeom>
            <a:avLst/>
            <a:gdLst/>
            <a:ahLst/>
            <a:cxnLst/>
            <a:rect l="l" t="t" r="r" b="b"/>
            <a:pathLst>
              <a:path w="8528247" h="4048164">
                <a:moveTo>
                  <a:pt x="0" y="0"/>
                </a:moveTo>
                <a:lnTo>
                  <a:pt x="8528247" y="0"/>
                </a:lnTo>
                <a:lnTo>
                  <a:pt x="8528247" y="4048164"/>
                </a:lnTo>
                <a:lnTo>
                  <a:pt x="0" y="4048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9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1948" y="2382727"/>
            <a:ext cx="7934408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OPERATING SYSTEM DETECTION :-&gt;</a:t>
            </a:r>
          </a:p>
        </p:txBody>
      </p:sp>
      <p:sp>
        <p:nvSpPr>
          <p:cNvPr id="7" name="Freeform 7"/>
          <p:cNvSpPr/>
          <p:nvPr/>
        </p:nvSpPr>
        <p:spPr>
          <a:xfrm>
            <a:off x="731825" y="4205843"/>
            <a:ext cx="7934408" cy="5644578"/>
          </a:xfrm>
          <a:custGeom>
            <a:avLst/>
            <a:gdLst/>
            <a:ahLst/>
            <a:cxnLst/>
            <a:rect l="l" t="t" r="r" b="b"/>
            <a:pathLst>
              <a:path w="7934408" h="5644578">
                <a:moveTo>
                  <a:pt x="0" y="0"/>
                </a:moveTo>
                <a:lnTo>
                  <a:pt x="7934408" y="0"/>
                </a:lnTo>
                <a:lnTo>
                  <a:pt x="7934408" y="5644577"/>
                </a:lnTo>
                <a:lnTo>
                  <a:pt x="0" y="5644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68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53761" y="6691783"/>
            <a:ext cx="5691239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&lt;-: TCP SYN SCAN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54022" y="1593407"/>
            <a:ext cx="7765363" cy="6859172"/>
          </a:xfrm>
          <a:custGeom>
            <a:avLst/>
            <a:gdLst/>
            <a:ahLst/>
            <a:cxnLst/>
            <a:rect l="l" t="t" r="r" b="b"/>
            <a:pathLst>
              <a:path w="7765363" h="6859172">
                <a:moveTo>
                  <a:pt x="0" y="0"/>
                </a:moveTo>
                <a:lnTo>
                  <a:pt x="7765364" y="0"/>
                </a:lnTo>
                <a:lnTo>
                  <a:pt x="7765364" y="6859172"/>
                </a:lnTo>
                <a:lnTo>
                  <a:pt x="0" y="6859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8840" y="1710869"/>
            <a:ext cx="28650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UDP SCAN :-&gt;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845486" y="6607652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9715836" y="0"/>
                </a:moveTo>
                <a:lnTo>
                  <a:pt x="0" y="0"/>
                </a:lnTo>
                <a:lnTo>
                  <a:pt x="0" y="3983492"/>
                </a:lnTo>
                <a:lnTo>
                  <a:pt x="9715836" y="3983492"/>
                </a:lnTo>
                <a:lnTo>
                  <a:pt x="97158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09287" y="2395739"/>
            <a:ext cx="7041047" cy="3740556"/>
          </a:xfrm>
          <a:custGeom>
            <a:avLst/>
            <a:gdLst/>
            <a:ahLst/>
            <a:cxnLst/>
            <a:rect l="l" t="t" r="r" b="b"/>
            <a:pathLst>
              <a:path w="7041047" h="3740556">
                <a:moveTo>
                  <a:pt x="0" y="0"/>
                </a:moveTo>
                <a:lnTo>
                  <a:pt x="7041047" y="0"/>
                </a:lnTo>
                <a:lnTo>
                  <a:pt x="7041047" y="3740557"/>
                </a:lnTo>
                <a:lnTo>
                  <a:pt x="0" y="374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7462" y="458832"/>
            <a:ext cx="16341838" cy="177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5"/>
              </a:lnSpc>
            </a:pPr>
            <a:r>
              <a:rPr lang="en-US" sz="5804" spc="-58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-9 Wireshark Network Traffic Capture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10176" y="3012132"/>
            <a:ext cx="2376424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DNS :-&gt;</a:t>
            </a:r>
          </a:p>
        </p:txBody>
      </p:sp>
      <p:sp>
        <p:nvSpPr>
          <p:cNvPr id="7" name="Freeform 7"/>
          <p:cNvSpPr/>
          <p:nvPr/>
        </p:nvSpPr>
        <p:spPr>
          <a:xfrm>
            <a:off x="1130212" y="5143500"/>
            <a:ext cx="7239645" cy="3846062"/>
          </a:xfrm>
          <a:custGeom>
            <a:avLst/>
            <a:gdLst/>
            <a:ahLst/>
            <a:cxnLst/>
            <a:rect l="l" t="t" r="r" b="b"/>
            <a:pathLst>
              <a:path w="7239645" h="3846062">
                <a:moveTo>
                  <a:pt x="0" y="0"/>
                </a:moveTo>
                <a:lnTo>
                  <a:pt x="7239646" y="0"/>
                </a:lnTo>
                <a:lnTo>
                  <a:pt x="7239646" y="3846062"/>
                </a:lnTo>
                <a:lnTo>
                  <a:pt x="0" y="3846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39238" y="5089273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733382" y="6999856"/>
            <a:ext cx="2287418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&lt;-: TCP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7363" y="592898"/>
            <a:ext cx="8196637" cy="4354464"/>
          </a:xfrm>
          <a:custGeom>
            <a:avLst/>
            <a:gdLst/>
            <a:ahLst/>
            <a:cxnLst/>
            <a:rect l="l" t="t" r="r" b="b"/>
            <a:pathLst>
              <a:path w="8196637" h="4354464">
                <a:moveTo>
                  <a:pt x="0" y="0"/>
                </a:moveTo>
                <a:lnTo>
                  <a:pt x="8196637" y="0"/>
                </a:lnTo>
                <a:lnTo>
                  <a:pt x="8196637" y="4354464"/>
                </a:lnTo>
                <a:lnTo>
                  <a:pt x="0" y="4354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48386" y="5143500"/>
            <a:ext cx="8371971" cy="4447610"/>
          </a:xfrm>
          <a:custGeom>
            <a:avLst/>
            <a:gdLst/>
            <a:ahLst/>
            <a:cxnLst/>
            <a:rect l="l" t="t" r="r" b="b"/>
            <a:pathLst>
              <a:path w="8371971" h="4447610">
                <a:moveTo>
                  <a:pt x="0" y="0"/>
                </a:moveTo>
                <a:lnTo>
                  <a:pt x="8371971" y="0"/>
                </a:lnTo>
                <a:lnTo>
                  <a:pt x="8371971" y="4447610"/>
                </a:lnTo>
                <a:lnTo>
                  <a:pt x="0" y="44476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29006" y="2059515"/>
            <a:ext cx="176736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&lt;-: icmp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32187" y="6377658"/>
            <a:ext cx="149006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ARP :-&gt;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482289" y="-177038"/>
            <a:ext cx="8008918" cy="3523924"/>
          </a:xfrm>
          <a:custGeom>
            <a:avLst/>
            <a:gdLst/>
            <a:ahLst/>
            <a:cxnLst/>
            <a:rect l="l" t="t" r="r" b="b"/>
            <a:pathLst>
              <a:path w="8008918" h="3523924">
                <a:moveTo>
                  <a:pt x="8008918" y="3523924"/>
                </a:moveTo>
                <a:lnTo>
                  <a:pt x="0" y="3523924"/>
                </a:lnTo>
                <a:lnTo>
                  <a:pt x="0" y="0"/>
                </a:lnTo>
                <a:lnTo>
                  <a:pt x="8008918" y="0"/>
                </a:lnTo>
                <a:lnTo>
                  <a:pt x="8008918" y="35239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523269" y="5143500"/>
            <a:ext cx="6811823" cy="4863941"/>
          </a:xfrm>
          <a:custGeom>
            <a:avLst/>
            <a:gdLst/>
            <a:ahLst/>
            <a:cxnLst/>
            <a:rect l="l" t="t" r="r" b="b"/>
            <a:pathLst>
              <a:path w="6811823" h="4863941">
                <a:moveTo>
                  <a:pt x="0" y="0"/>
                </a:moveTo>
                <a:lnTo>
                  <a:pt x="6811823" y="0"/>
                </a:lnTo>
                <a:lnTo>
                  <a:pt x="6811823" y="4863941"/>
                </a:lnTo>
                <a:lnTo>
                  <a:pt x="0" y="4863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3123" y="416586"/>
            <a:ext cx="17132187" cy="1570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3"/>
              </a:lnSpc>
            </a:pPr>
            <a:r>
              <a:rPr lang="en-US" sz="5827" spc="-58" dirty="0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- 10 Nmap + Wireshark    Investigation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7001" y="2404115"/>
            <a:ext cx="16158141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screenshot shows a Kali Linux terminal window executing an Nmap TCP SYN stealth scan against target IP address 10.0.2.3. The command sudo nmap -sS 10.0.2.3 was issued, leveraging root privileges to craft raw SYN packets and evaluate target port states without establishing full TCP connections. 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250033"/>
            <a:ext cx="14158423" cy="6229706"/>
          </a:xfrm>
          <a:custGeom>
            <a:avLst/>
            <a:gdLst/>
            <a:ahLst/>
            <a:cxnLst/>
            <a:rect l="l" t="t" r="r" b="b"/>
            <a:pathLst>
              <a:path w="14158423" h="6229706">
                <a:moveTo>
                  <a:pt x="0" y="0"/>
                </a:moveTo>
                <a:lnTo>
                  <a:pt x="14158423" y="0"/>
                </a:lnTo>
                <a:lnTo>
                  <a:pt x="14158423" y="6229706"/>
                </a:lnTo>
                <a:lnTo>
                  <a:pt x="0" y="6229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984773" y="2627231"/>
            <a:ext cx="889055" cy="889055"/>
          </a:xfrm>
          <a:custGeom>
            <a:avLst/>
            <a:gdLst/>
            <a:ahLst/>
            <a:cxnLst/>
            <a:rect l="l" t="t" r="r" b="b"/>
            <a:pathLst>
              <a:path w="889055" h="889055">
                <a:moveTo>
                  <a:pt x="0" y="0"/>
                </a:moveTo>
                <a:lnTo>
                  <a:pt x="889055" y="0"/>
                </a:lnTo>
                <a:lnTo>
                  <a:pt x="889055" y="889055"/>
                </a:lnTo>
                <a:lnTo>
                  <a:pt x="0" y="889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546603" y="2627231"/>
            <a:ext cx="13457222" cy="7149149"/>
          </a:xfrm>
          <a:custGeom>
            <a:avLst/>
            <a:gdLst/>
            <a:ahLst/>
            <a:cxnLst/>
            <a:rect l="l" t="t" r="r" b="b"/>
            <a:pathLst>
              <a:path w="13457222" h="7149149">
                <a:moveTo>
                  <a:pt x="0" y="0"/>
                </a:moveTo>
                <a:lnTo>
                  <a:pt x="13457222" y="0"/>
                </a:lnTo>
                <a:lnTo>
                  <a:pt x="13457222" y="7149149"/>
                </a:lnTo>
                <a:lnTo>
                  <a:pt x="0" y="7149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51494" y="747023"/>
            <a:ext cx="17785012" cy="232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TCP SYN : This screenshot shows Wireshark running on Kali Linux with the display filter set to tcp.flags.syn == 1. This filter isolates all TCP synchronization packets, capturing initial connection attempts across the eth0 network interface. </a:t>
            </a:r>
          </a:p>
          <a:p>
            <a:pPr algn="ctr">
              <a:lnSpc>
                <a:spcPts val="4759"/>
              </a:lnSpc>
            </a:pPr>
            <a:endParaRPr lang="en-US" sz="33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845486" y="6607652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9715836" y="0"/>
                </a:moveTo>
                <a:lnTo>
                  <a:pt x="0" y="0"/>
                </a:lnTo>
                <a:lnTo>
                  <a:pt x="0" y="3983492"/>
                </a:lnTo>
                <a:lnTo>
                  <a:pt x="9715836" y="3983492"/>
                </a:lnTo>
                <a:lnTo>
                  <a:pt x="97158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3585" y="451590"/>
            <a:ext cx="8610415" cy="4574283"/>
          </a:xfrm>
          <a:custGeom>
            <a:avLst/>
            <a:gdLst/>
            <a:ahLst/>
            <a:cxnLst/>
            <a:rect l="l" t="t" r="r" b="b"/>
            <a:pathLst>
              <a:path w="8610415" h="4574283">
                <a:moveTo>
                  <a:pt x="0" y="0"/>
                </a:moveTo>
                <a:lnTo>
                  <a:pt x="8610415" y="0"/>
                </a:lnTo>
                <a:lnTo>
                  <a:pt x="8610415" y="4574283"/>
                </a:lnTo>
                <a:lnTo>
                  <a:pt x="0" y="457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51094" y="5143500"/>
            <a:ext cx="8901057" cy="4728686"/>
          </a:xfrm>
          <a:custGeom>
            <a:avLst/>
            <a:gdLst/>
            <a:ahLst/>
            <a:cxnLst/>
            <a:rect l="l" t="t" r="r" b="b"/>
            <a:pathLst>
              <a:path w="8901057" h="4728686">
                <a:moveTo>
                  <a:pt x="0" y="0"/>
                </a:moveTo>
                <a:lnTo>
                  <a:pt x="8901056" y="0"/>
                </a:lnTo>
                <a:lnTo>
                  <a:pt x="8901056" y="4728686"/>
                </a:lnTo>
                <a:lnTo>
                  <a:pt x="0" y="4728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579656" y="7895687"/>
            <a:ext cx="2440386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2061">
                <a:solidFill>
                  <a:srgbClr val="0F034F"/>
                </a:solidFill>
                <a:latin typeface="Poppins"/>
                <a:ea typeface="Poppins"/>
                <a:cs typeface="Poppins"/>
                <a:sym typeface="Poppins"/>
              </a:rPr>
              <a:t>Continuous Zero-Trust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08675" y="4319854"/>
            <a:ext cx="14158423" cy="6229706"/>
          </a:xfrm>
          <a:custGeom>
            <a:avLst/>
            <a:gdLst/>
            <a:ahLst/>
            <a:cxnLst/>
            <a:rect l="l" t="t" r="r" b="b"/>
            <a:pathLst>
              <a:path w="14158423" h="6229706">
                <a:moveTo>
                  <a:pt x="0" y="0"/>
                </a:moveTo>
                <a:lnTo>
                  <a:pt x="14158423" y="0"/>
                </a:lnTo>
                <a:lnTo>
                  <a:pt x="14158423" y="6229707"/>
                </a:lnTo>
                <a:lnTo>
                  <a:pt x="0" y="6229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1802" y="1019175"/>
            <a:ext cx="16750635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83"/>
              </a:lnSpc>
            </a:pPr>
            <a:r>
              <a:rPr lang="en-US" sz="4486" spc="-381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11 – Advanced Network Traffic Investigation </a:t>
            </a:r>
          </a:p>
          <a:p>
            <a:pPr algn="just">
              <a:lnSpc>
                <a:spcPts val="5383"/>
              </a:lnSpc>
            </a:pPr>
            <a:endParaRPr lang="en-US" sz="4486" spc="-381">
              <a:solidFill>
                <a:srgbClr val="B6FB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2BD3A7-E545-88D9-9E5D-AE14F7159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00672"/>
              </p:ext>
            </p:extLst>
          </p:nvPr>
        </p:nvGraphicFramePr>
        <p:xfrm>
          <a:off x="1447800" y="3619500"/>
          <a:ext cx="14706600" cy="5867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320542840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858241357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1983523175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2688532026"/>
                    </a:ext>
                  </a:extLst>
                </a:gridCol>
                <a:gridCol w="2956560">
                  <a:extLst>
                    <a:ext uri="{9D8B030D-6E8A-4147-A177-3AD203B41FA5}">
                      <a16:colId xmlns:a16="http://schemas.microsoft.com/office/drawing/2014/main" val="3122859283"/>
                    </a:ext>
                  </a:extLst>
                </a:gridCol>
              </a:tblGrid>
              <a:tr h="514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No.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Traffic/Event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Wireshark Filter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Observation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Interpretation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902052934"/>
                  </a:ext>
                </a:extLst>
              </a:tr>
              <a:tr h="865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1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DNS queries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dns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DNS queries and responses were observed between Kali and the DNS server.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Normal name-resolution activity was observed.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1771465734"/>
                  </a:ext>
                </a:extLst>
              </a:tr>
              <a:tr h="1025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2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 traffic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 packets including connection establishment traffic were captured.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Indicates normal TCP communication in the lab.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3365229719"/>
                  </a:ext>
                </a:extLst>
              </a:tr>
              <a:tr h="865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3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 SYN packets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tcp.flags.syn == 1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SYN packets were generated during Nmap scanning.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Represents attempts to establish TCP connections with the target.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1441008775"/>
                  </a:ext>
                </a:extLst>
              </a:tr>
              <a:tr h="865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4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 RST packets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tcp.flags.reset == 1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RST/ACK packets were observed from the Windows 7 VM.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Indicates that some TCP connection attempts were rejected or reset.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2873318151"/>
                  </a:ext>
                </a:extLst>
              </a:tr>
              <a:tr h="1025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5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ICMP traffic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icmp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ICMP Echo Request/Reply packets were observed during connectivity testing.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Confirms communication between the Kali and Windows 7 VMs.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1724703950"/>
                  </a:ext>
                </a:extLst>
              </a:tr>
              <a:tr h="705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6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ARP traffic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arp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ARP packets were observed for IP-to-MAC address resolution.</a:t>
                      </a:r>
                    </a:p>
                  </a:txBody>
                  <a:tcPr marL="49452" marR="49452" marT="24726" marB="247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Normal local network address-resolution activity.</a:t>
                      </a:r>
                    </a:p>
                  </a:txBody>
                  <a:tcPr marL="49452" marR="49452" marT="24726" marB="24726" anchor="ctr"/>
                </a:tc>
                <a:extLst>
                  <a:ext uri="{0D108BD9-81ED-4DB2-BD59-A6C34878D82A}">
                    <a16:rowId xmlns:a16="http://schemas.microsoft.com/office/drawing/2014/main" val="13221121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845486" y="6607652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9715836" y="0"/>
                </a:moveTo>
                <a:lnTo>
                  <a:pt x="0" y="0"/>
                </a:lnTo>
                <a:lnTo>
                  <a:pt x="0" y="3983492"/>
                </a:lnTo>
                <a:lnTo>
                  <a:pt x="9715836" y="3983492"/>
                </a:lnTo>
                <a:lnTo>
                  <a:pt x="97158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99156" y="2881534"/>
            <a:ext cx="9804248" cy="7017658"/>
          </a:xfrm>
          <a:custGeom>
            <a:avLst/>
            <a:gdLst/>
            <a:ahLst/>
            <a:cxnLst/>
            <a:rect l="l" t="t" r="r" b="b"/>
            <a:pathLst>
              <a:path w="9804248" h="7017658">
                <a:moveTo>
                  <a:pt x="0" y="0"/>
                </a:moveTo>
                <a:lnTo>
                  <a:pt x="9804248" y="0"/>
                </a:lnTo>
                <a:lnTo>
                  <a:pt x="9804248" y="7017658"/>
                </a:lnTo>
                <a:lnTo>
                  <a:pt x="0" y="7017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0622" y="805084"/>
            <a:ext cx="15900700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83"/>
              </a:lnSpc>
            </a:pPr>
            <a:r>
              <a:rPr lang="en-US" sz="6819" spc="-68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-12 Vulnerability Assessment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138A27-064B-AF46-4AC1-FB0868308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44719"/>
              </p:ext>
            </p:extLst>
          </p:nvPr>
        </p:nvGraphicFramePr>
        <p:xfrm>
          <a:off x="1727470" y="1600200"/>
          <a:ext cx="14122130" cy="52958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4426">
                  <a:extLst>
                    <a:ext uri="{9D8B030D-6E8A-4147-A177-3AD203B41FA5}">
                      <a16:colId xmlns:a16="http://schemas.microsoft.com/office/drawing/2014/main" val="1922395467"/>
                    </a:ext>
                  </a:extLst>
                </a:gridCol>
                <a:gridCol w="2824426">
                  <a:extLst>
                    <a:ext uri="{9D8B030D-6E8A-4147-A177-3AD203B41FA5}">
                      <a16:colId xmlns:a16="http://schemas.microsoft.com/office/drawing/2014/main" val="3943587167"/>
                    </a:ext>
                  </a:extLst>
                </a:gridCol>
                <a:gridCol w="2824426">
                  <a:extLst>
                    <a:ext uri="{9D8B030D-6E8A-4147-A177-3AD203B41FA5}">
                      <a16:colId xmlns:a16="http://schemas.microsoft.com/office/drawing/2014/main" val="1283730467"/>
                    </a:ext>
                  </a:extLst>
                </a:gridCol>
                <a:gridCol w="2824426">
                  <a:extLst>
                    <a:ext uri="{9D8B030D-6E8A-4147-A177-3AD203B41FA5}">
                      <a16:colId xmlns:a16="http://schemas.microsoft.com/office/drawing/2014/main" val="720032875"/>
                    </a:ext>
                  </a:extLst>
                </a:gridCol>
                <a:gridCol w="2824426">
                  <a:extLst>
                    <a:ext uri="{9D8B030D-6E8A-4147-A177-3AD203B41FA5}">
                      <a16:colId xmlns:a16="http://schemas.microsoft.com/office/drawing/2014/main" val="798717775"/>
                    </a:ext>
                  </a:extLst>
                </a:gridCol>
              </a:tblGrid>
              <a:tr h="85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Findings</a:t>
                      </a:r>
                      <a:endParaRPr lang="en-IN" sz="1600" b="1" dirty="0">
                        <a:effectLst/>
                      </a:endParaRP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Evidence</a:t>
                      </a:r>
                      <a:endParaRPr lang="en-IN" sz="1600" b="1">
                        <a:effectLst/>
                      </a:endParaRP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Risk</a:t>
                      </a:r>
                      <a:endParaRPr lang="en-IN" sz="1600" b="1">
                        <a:effectLst/>
                      </a:endParaRP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Potential Impact</a:t>
                      </a:r>
                      <a:endParaRPr lang="en-IN" sz="1600" b="1">
                        <a:effectLst/>
                      </a:endParaRP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Recommendation</a:t>
                      </a:r>
                      <a:endParaRPr lang="en-IN" sz="1600" b="1">
                        <a:effectLst/>
                      </a:endParaRPr>
                    </a:p>
                  </a:txBody>
                  <a:tcPr marL="63212" marR="63212" marT="31606" marB="31606" anchor="ctr"/>
                </a:tc>
                <a:extLst>
                  <a:ext uri="{0D108BD9-81ED-4DB2-BD59-A6C34878D82A}">
                    <a16:rowId xmlns:a16="http://schemas.microsoft.com/office/drawing/2014/main" val="3961658198"/>
                  </a:ext>
                </a:extLst>
              </a:tr>
              <a:tr h="998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MS17-010 / SMBv1 vulnerability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>
                          <a:effectLst/>
                        </a:rPr>
                        <a:t>NSE smb-vuln-ms17-010, CVE-2017-0143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High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Potential remote code execution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Apply appropriate Windows security updates and disable SMBv1 if not required </a:t>
                      </a:r>
                    </a:p>
                  </a:txBody>
                  <a:tcPr marL="63212" marR="63212" marT="31606" marB="31606" anchor="ctr"/>
                </a:tc>
                <a:extLst>
                  <a:ext uri="{0D108BD9-81ED-4DB2-BD59-A6C34878D82A}">
                    <a16:rowId xmlns:a16="http://schemas.microsoft.com/office/drawing/2014/main" val="745497702"/>
                  </a:ext>
                </a:extLst>
              </a:tr>
              <a:tr h="85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SMB/Microsoft-DS exposed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445/tcp open microsoft-ds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Medium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Increased SMB attack surface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Restrict access to trusted systems </a:t>
                      </a:r>
                    </a:p>
                  </a:txBody>
                  <a:tcPr marL="63212" marR="63212" marT="31606" marB="31606" anchor="ctr"/>
                </a:tc>
                <a:extLst>
                  <a:ext uri="{0D108BD9-81ED-4DB2-BD59-A6C34878D82A}">
                    <a16:rowId xmlns:a16="http://schemas.microsoft.com/office/drawing/2014/main" val="2095289757"/>
                  </a:ext>
                </a:extLst>
              </a:tr>
              <a:tr h="85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NetBIOS-SSN exposed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139/tcp open netbios-ssn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Medium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Legacy service exposure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Disable/restrict if unnecessary </a:t>
                      </a:r>
                    </a:p>
                  </a:txBody>
                  <a:tcPr marL="63212" marR="63212" marT="31606" marB="31606" anchor="ctr"/>
                </a:tc>
                <a:extLst>
                  <a:ext uri="{0D108BD9-81ED-4DB2-BD59-A6C34878D82A}">
                    <a16:rowId xmlns:a16="http://schemas.microsoft.com/office/drawing/2014/main" val="3709797814"/>
                  </a:ext>
                </a:extLst>
              </a:tr>
              <a:tr h="85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MSRPC exposed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135/tcp open msrpc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Medium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Increased RPC attack surface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Restrict RPC access </a:t>
                      </a:r>
                    </a:p>
                  </a:txBody>
                  <a:tcPr marL="63212" marR="63212" marT="31606" marB="31606" anchor="ctr"/>
                </a:tc>
                <a:extLst>
                  <a:ext uri="{0D108BD9-81ED-4DB2-BD59-A6C34878D82A}">
                    <a16:rowId xmlns:a16="http://schemas.microsoft.com/office/drawing/2014/main" val="468808797"/>
                  </a:ext>
                </a:extLst>
              </a:tr>
              <a:tr h="859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Multiple RPC ports exposed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49152–49158/tcp open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Medium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effectLst/>
                        </a:rPr>
                        <a:t>Additional exposed services </a:t>
                      </a:r>
                    </a:p>
                  </a:txBody>
                  <a:tcPr marL="63212" marR="63212" marT="31606" marB="3160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Restrict unnecessary RPC traffic </a:t>
                      </a:r>
                    </a:p>
                  </a:txBody>
                  <a:tcPr marL="63212" marR="63212" marT="31606" marB="31606" anchor="ctr"/>
                </a:tc>
                <a:extLst>
                  <a:ext uri="{0D108BD9-81ED-4DB2-BD59-A6C34878D82A}">
                    <a16:rowId xmlns:a16="http://schemas.microsoft.com/office/drawing/2014/main" val="41451107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8572164" y="11127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0" y="0"/>
                </a:moveTo>
                <a:lnTo>
                  <a:pt x="9715836" y="0"/>
                </a:lnTo>
                <a:lnTo>
                  <a:pt x="9715836" y="3983492"/>
                </a:lnTo>
                <a:lnTo>
                  <a:pt x="0" y="3983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51564" y="3543131"/>
            <a:ext cx="11156968" cy="5172104"/>
          </a:xfrm>
          <a:custGeom>
            <a:avLst/>
            <a:gdLst/>
            <a:ahLst/>
            <a:cxnLst/>
            <a:rect l="l" t="t" r="r" b="b"/>
            <a:pathLst>
              <a:path w="11156968" h="5172104">
                <a:moveTo>
                  <a:pt x="0" y="0"/>
                </a:moveTo>
                <a:lnTo>
                  <a:pt x="11156968" y="0"/>
                </a:lnTo>
                <a:lnTo>
                  <a:pt x="11156968" y="5172104"/>
                </a:lnTo>
                <a:lnTo>
                  <a:pt x="0" y="5172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0834" y="436010"/>
            <a:ext cx="17097698" cy="195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3"/>
              </a:lnSpc>
            </a:pPr>
            <a:r>
              <a:rPr lang="en-US" sz="6419" spc="-545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- 13 Security Hardening &amp; Before/After Testing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267908" y="3671087"/>
            <a:ext cx="1052759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 HARDENING :-&gt;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5639" y="1192018"/>
            <a:ext cx="8622044" cy="3274795"/>
          </a:xfrm>
          <a:custGeom>
            <a:avLst/>
            <a:gdLst/>
            <a:ahLst/>
            <a:cxnLst/>
            <a:rect l="l" t="t" r="r" b="b"/>
            <a:pathLst>
              <a:path w="8622044" h="3274795">
                <a:moveTo>
                  <a:pt x="0" y="0"/>
                </a:moveTo>
                <a:lnTo>
                  <a:pt x="8622044" y="0"/>
                </a:lnTo>
                <a:lnTo>
                  <a:pt x="8622044" y="3274794"/>
                </a:lnTo>
                <a:lnTo>
                  <a:pt x="0" y="3274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0940" y="5143500"/>
            <a:ext cx="7990709" cy="2776195"/>
          </a:xfrm>
          <a:custGeom>
            <a:avLst/>
            <a:gdLst/>
            <a:ahLst/>
            <a:cxnLst/>
            <a:rect l="l" t="t" r="r" b="b"/>
            <a:pathLst>
              <a:path w="7990709" h="2776195">
                <a:moveTo>
                  <a:pt x="0" y="0"/>
                </a:moveTo>
                <a:lnTo>
                  <a:pt x="7990708" y="0"/>
                </a:lnTo>
                <a:lnTo>
                  <a:pt x="7990708" y="2776195"/>
                </a:lnTo>
                <a:lnTo>
                  <a:pt x="0" y="2776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40" b="-334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36826" y="4870368"/>
            <a:ext cx="8680474" cy="4387932"/>
          </a:xfrm>
          <a:custGeom>
            <a:avLst/>
            <a:gdLst/>
            <a:ahLst/>
            <a:cxnLst/>
            <a:rect l="l" t="t" r="r" b="b"/>
            <a:pathLst>
              <a:path w="8680474" h="4387932">
                <a:moveTo>
                  <a:pt x="0" y="0"/>
                </a:moveTo>
                <a:lnTo>
                  <a:pt x="8680474" y="0"/>
                </a:lnTo>
                <a:lnTo>
                  <a:pt x="8680474" y="4387932"/>
                </a:lnTo>
                <a:lnTo>
                  <a:pt x="0" y="4387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6791" y="1449567"/>
            <a:ext cx="484370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HARDENING  :-&gt;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5076426" y="-177038"/>
            <a:ext cx="13414782" cy="5902504"/>
          </a:xfrm>
          <a:custGeom>
            <a:avLst/>
            <a:gdLst/>
            <a:ahLst/>
            <a:cxnLst/>
            <a:rect l="l" t="t" r="r" b="b"/>
            <a:pathLst>
              <a:path w="13414782" h="5902504">
                <a:moveTo>
                  <a:pt x="13414781" y="5902504"/>
                </a:moveTo>
                <a:lnTo>
                  <a:pt x="0" y="5902504"/>
                </a:lnTo>
                <a:lnTo>
                  <a:pt x="0" y="0"/>
                </a:lnTo>
                <a:lnTo>
                  <a:pt x="13414781" y="0"/>
                </a:lnTo>
                <a:lnTo>
                  <a:pt x="13414781" y="59025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914400"/>
            <a:ext cx="15617117" cy="183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TASK - 14 Final Mini Security Assessment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2912194"/>
            <a:ext cx="17741328" cy="172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117" lvl="1" indent="-356058" algn="l">
              <a:lnSpc>
                <a:spcPts val="4617"/>
              </a:lnSpc>
              <a:buFont typeface="Arial"/>
              <a:buChar char="•"/>
            </a:pPr>
            <a:r>
              <a:rPr lang="en-US" sz="329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objective of the final assessment was to evaluate the security posture of the authorized Windows 7 test VM after network discovery, service enumeration, traffic analysis, vulnerability assessment, and security hardening.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5145076"/>
            <a:ext cx="1632900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 vs AFTER :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CEA2DD-E2F1-3CF1-FC09-61CEBA9A9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76522"/>
              </p:ext>
            </p:extLst>
          </p:nvPr>
        </p:nvGraphicFramePr>
        <p:xfrm>
          <a:off x="3693758" y="6001900"/>
          <a:ext cx="9107841" cy="302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35947">
                  <a:extLst>
                    <a:ext uri="{9D8B030D-6E8A-4147-A177-3AD203B41FA5}">
                      <a16:colId xmlns:a16="http://schemas.microsoft.com/office/drawing/2014/main" val="3003684276"/>
                    </a:ext>
                  </a:extLst>
                </a:gridCol>
                <a:gridCol w="3035947">
                  <a:extLst>
                    <a:ext uri="{9D8B030D-6E8A-4147-A177-3AD203B41FA5}">
                      <a16:colId xmlns:a16="http://schemas.microsoft.com/office/drawing/2014/main" val="911885343"/>
                    </a:ext>
                  </a:extLst>
                </a:gridCol>
                <a:gridCol w="3035947">
                  <a:extLst>
                    <a:ext uri="{9D8B030D-6E8A-4147-A177-3AD203B41FA5}">
                      <a16:colId xmlns:a16="http://schemas.microsoft.com/office/drawing/2014/main" val="1274999493"/>
                    </a:ext>
                  </a:extLst>
                </a:gridCol>
              </a:tblGrid>
              <a:tr h="756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Before Hardening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After Hardening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847095"/>
                  </a:ext>
                </a:extLst>
              </a:tr>
              <a:tr h="756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445/TCP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Filtered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848142"/>
                  </a:ext>
                </a:extLst>
              </a:tr>
              <a:tr h="756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139/TCP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Filtered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424158"/>
                  </a:ext>
                </a:extLst>
              </a:tr>
              <a:tr h="756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49152–49158/TCP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effectLst/>
                        </a:rPr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</a:rPr>
                        <a:t>Filtered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38682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62025"/>
            <a:ext cx="318027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B6F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033649"/>
            <a:ext cx="17259300" cy="2273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assessment identified exposed SMB, NetBIOS and dynamic RPC services on the Windows 7 test VM. Nmap vulnerability scanning also reported a potential MS17-010-related SMB vulnerability. Wireshark was used to analyze authorized lab traffic, including DNS and TCP traffic.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3610" y="4563110"/>
            <a:ext cx="65520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>
                <a:solidFill>
                  <a:srgbClr val="B6FB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RECOMENDATIONS 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34959" y="5638800"/>
            <a:ext cx="14504249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Keep Windows Firewall enabled.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Restrict unnecessary inbound ports.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 unnecessary SMB and NetBIOS exposure.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Keep the operating system updated.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Monitor network traffic for unusual activity.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 regular authorized security assessments.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0386" y="933450"/>
            <a:ext cx="496728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B6FBFF"/>
                </a:solidFill>
                <a:latin typeface="+mj-lt"/>
                <a:ea typeface="Canva Sans Bold"/>
                <a:cs typeface="Canva Sans Bold"/>
                <a:sym typeface="Canva Sans Bold"/>
              </a:rPr>
              <a:t>CONCLUSION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276269"/>
            <a:ext cx="16666392" cy="7438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 This Week 3 assessment carried a full offensive-to-defensive workflow: identifying the target, enumerating services with Nmap, validating behavior at the packet level with Wireshark, correlating scan traffic to captured packets, and translating findings into concrete hardening actions.</a:t>
            </a:r>
          </a:p>
          <a:p>
            <a:pPr algn="l">
              <a:lnSpc>
                <a:spcPts val="4759"/>
              </a:lnSpc>
            </a:pPr>
            <a:r>
              <a:rPr lang="en-US" sz="2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Overall, the assessment strengthened practical skills across reconnaissance, traffic analysis, and defensive hardening within a safe, authorized lab environment.</a:t>
            </a:r>
          </a:p>
          <a:p>
            <a:pPr algn="l">
              <a:lnSpc>
                <a:spcPts val="4759"/>
              </a:lnSpc>
            </a:pPr>
            <a:endParaRPr lang="en-US" sz="25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5200" b="1" dirty="0">
                <a:solidFill>
                  <a:srgbClr val="71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REFERENCES :</a:t>
            </a:r>
          </a:p>
          <a:p>
            <a:r>
              <a:rPr lang="en-IN" sz="2800" dirty="0">
                <a:solidFill>
                  <a:schemeClr val="bg1"/>
                </a:solidFill>
              </a:rPr>
              <a:t>▪ Nmap Reference Guide — </a:t>
            </a:r>
            <a:r>
              <a:rPr lang="en-IN" sz="2800" dirty="0">
                <a:solidFill>
                  <a:schemeClr val="bg1"/>
                </a:solidFill>
                <a:hlinkClick r:id="rId2"/>
              </a:rPr>
              <a:t>https://nmap.org/book/man.html 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▪ Nmap Scripting Engine (NSE) Documentation — </a:t>
            </a:r>
            <a:r>
              <a:rPr lang="en-IN" sz="2800" dirty="0">
                <a:solidFill>
                  <a:schemeClr val="bg1"/>
                </a:solidFill>
                <a:hlinkClick r:id="rId3"/>
              </a:rPr>
              <a:t>https://nmap.org/book/nse.html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▪ Wireshark User's Guide — </a:t>
            </a:r>
            <a:r>
              <a:rPr lang="en-IN" sz="2800" dirty="0">
                <a:solidFill>
                  <a:schemeClr val="bg1"/>
                </a:solidFill>
                <a:hlinkClick r:id="rId4"/>
              </a:rPr>
              <a:t>https://www.wireshark.org/docs/wsug_html_chunked/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▪ CVE Program — </a:t>
            </a:r>
            <a:r>
              <a:rPr lang="en-IN" sz="2800" dirty="0">
                <a:solidFill>
                  <a:schemeClr val="bg1"/>
                </a:solidFill>
                <a:hlinkClick r:id="rId5"/>
              </a:rPr>
              <a:t>https://cve.mitre.org 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▪ MITRE ATT&amp;CK — </a:t>
            </a:r>
            <a:r>
              <a:rPr lang="en-IN" sz="2800" dirty="0">
                <a:solidFill>
                  <a:schemeClr val="bg1"/>
                </a:solidFill>
                <a:hlinkClick r:id="rId6"/>
              </a:rPr>
              <a:t>https://attack.mitre.org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▪ Microsoft </a:t>
            </a:r>
            <a:r>
              <a:rPr lang="en-IN" sz="2800" dirty="0" err="1">
                <a:solidFill>
                  <a:schemeClr val="bg1"/>
                </a:solidFill>
              </a:rPr>
              <a:t>netsh</a:t>
            </a:r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dirty="0" err="1">
                <a:solidFill>
                  <a:schemeClr val="bg1"/>
                </a:solidFill>
              </a:rPr>
              <a:t>advfirewall</a:t>
            </a:r>
            <a:r>
              <a:rPr lang="en-IN" sz="2800" dirty="0">
                <a:solidFill>
                  <a:schemeClr val="bg1"/>
                </a:solidFill>
              </a:rPr>
              <a:t> Command Reference</a:t>
            </a:r>
            <a:endParaRPr lang="en-US" sz="2500" dirty="0">
              <a:solidFill>
                <a:schemeClr val="bg1"/>
              </a:solidFill>
              <a:latin typeface="Canva Sans 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endParaRPr lang="en-US" sz="25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666" r="-12666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259982" y="-265963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0" y="3983493"/>
                </a:moveTo>
                <a:lnTo>
                  <a:pt x="9715836" y="3983493"/>
                </a:lnTo>
                <a:lnTo>
                  <a:pt x="9715836" y="0"/>
                </a:lnTo>
                <a:lnTo>
                  <a:pt x="0" y="0"/>
                </a:lnTo>
                <a:lnTo>
                  <a:pt x="0" y="398349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8845486" y="6607652"/>
            <a:ext cx="9715836" cy="3983493"/>
          </a:xfrm>
          <a:custGeom>
            <a:avLst/>
            <a:gdLst/>
            <a:ahLst/>
            <a:cxnLst/>
            <a:rect l="l" t="t" r="r" b="b"/>
            <a:pathLst>
              <a:path w="9715836" h="3983493">
                <a:moveTo>
                  <a:pt x="9715836" y="0"/>
                </a:moveTo>
                <a:lnTo>
                  <a:pt x="0" y="0"/>
                </a:lnTo>
                <a:lnTo>
                  <a:pt x="0" y="3983492"/>
                </a:lnTo>
                <a:lnTo>
                  <a:pt x="9715836" y="3983492"/>
                </a:lnTo>
                <a:lnTo>
                  <a:pt x="971583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67444" y="4624387"/>
            <a:ext cx="1275311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3"/>
              </a:lnSpc>
            </a:pPr>
            <a:r>
              <a:rPr lang="en-US" sz="6819" spc="-68">
                <a:solidFill>
                  <a:srgbClr val="B6FBFF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5813868" y="3717530"/>
            <a:ext cx="6660264" cy="2597503"/>
          </a:xfrm>
          <a:custGeom>
            <a:avLst/>
            <a:gdLst/>
            <a:ahLst/>
            <a:cxnLst/>
            <a:rect l="l" t="t" r="r" b="b"/>
            <a:pathLst>
              <a:path w="6660264" h="2597503">
                <a:moveTo>
                  <a:pt x="0" y="0"/>
                </a:moveTo>
                <a:lnTo>
                  <a:pt x="6660264" y="0"/>
                </a:lnTo>
                <a:lnTo>
                  <a:pt x="6660264" y="2597503"/>
                </a:lnTo>
                <a:lnTo>
                  <a:pt x="0" y="2597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1069</Words>
  <Application>Microsoft Office PowerPoint</Application>
  <PresentationFormat>Custom</PresentationFormat>
  <Paragraphs>180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Mokoto</vt:lpstr>
      <vt:lpstr>Canva Sans</vt:lpstr>
      <vt:lpstr>Montserrat</vt:lpstr>
      <vt:lpstr>Montserrat Bold</vt:lpstr>
      <vt:lpstr>Calibri</vt:lpstr>
      <vt:lpstr>Canva Sans Bold</vt:lpstr>
      <vt:lpstr>Arial</vt:lpstr>
      <vt:lpstr>Poppins</vt:lpstr>
      <vt:lpstr>Canva Sans 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- 3 ASSIGNMENT</dc:title>
  <cp:lastModifiedBy>Sai Amulya</cp:lastModifiedBy>
  <cp:revision>7</cp:revision>
  <dcterms:created xsi:type="dcterms:W3CDTF">2006-08-16T00:00:00Z</dcterms:created>
  <dcterms:modified xsi:type="dcterms:W3CDTF">2026-09-21T21:53:16Z</dcterms:modified>
  <dc:identifier>DAHVKHyVnzI</dc:identifier>
</cp:coreProperties>
</file>